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60" r:id="rId3"/>
    <p:sldId id="261" r:id="rId4"/>
    <p:sldId id="262" r:id="rId5"/>
    <p:sldId id="263" r:id="rId6"/>
    <p:sldId id="257" r:id="rId7"/>
    <p:sldId id="258" r:id="rId8"/>
    <p:sldId id="259" r:id="rId9"/>
    <p:sldId id="264" r:id="rId10"/>
    <p:sldId id="265" r:id="rId11"/>
    <p:sldId id="266" r:id="rId12"/>
    <p:sldId id="268" r:id="rId13"/>
    <p:sldId id="267" r:id="rId14"/>
    <p:sldId id="269" r:id="rId15"/>
    <p:sldId id="274" r:id="rId16"/>
    <p:sldId id="270" r:id="rId17"/>
    <p:sldId id="271" r:id="rId18"/>
    <p:sldId id="272" r:id="rId19"/>
    <p:sldId id="273" r:id="rId20"/>
    <p:sldId id="275" r:id="rId21"/>
    <p:sldId id="276" r:id="rId22"/>
    <p:sldId id="277" r:id="rId23"/>
    <p:sldId id="278" r:id="rId24"/>
    <p:sldId id="283" r:id="rId25"/>
    <p:sldId id="279" r:id="rId26"/>
    <p:sldId id="280" r:id="rId27"/>
    <p:sldId id="285" r:id="rId28"/>
    <p:sldId id="284" r:id="rId29"/>
    <p:sldId id="287" r:id="rId30"/>
    <p:sldId id="292" r:id="rId31"/>
    <p:sldId id="294" r:id="rId32"/>
    <p:sldId id="289" r:id="rId33"/>
    <p:sldId id="290" r:id="rId34"/>
    <p:sldId id="301" r:id="rId35"/>
    <p:sldId id="303" r:id="rId36"/>
    <p:sldId id="304" r:id="rId37"/>
    <p:sldId id="305" r:id="rId38"/>
  </p:sldIdLst>
  <p:sldSz cx="12192000" cy="6858000"/>
  <p:notesSz cx="6858000" cy="9144000"/>
  <p:defaultTextStyle>
    <a:defPPr>
      <a:defRPr lang="en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685"/>
    <p:restoredTop sz="94750"/>
  </p:normalViewPr>
  <p:slideViewPr>
    <p:cSldViewPr snapToGrid="0">
      <p:cViewPr varScale="1">
        <p:scale>
          <a:sx n="136" d="100"/>
          <a:sy n="136" d="100"/>
        </p:scale>
        <p:origin x="10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8T20:49:17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 24575,'7'2'0,"0"1"0,-2-3 0,2 0 0,0 2 0,3-2 0,10 6 0,-4-5 0,17 7 0,1-7 0,9 2 0,14-3 0,-13 0 0,12 0 0,-21 0 0,7 4 0,-1-3 0,2 3 0,14-4 0,23 4 0,-22-3 0,9 4 0,-46-5 0,-6 0 0,-8 0 0,0 0 0,6 0 0,9 0 0,5 0 0,0 0 0,5 0 0,-12 0 0,13 0 0,1 0 0,9 0 0,14 0 0,9 0 0,1 0 0,-1 0 0,-16 0 0,-16 0 0,-9 0 0,-7 0 0,1 0 0,-5 0 0,-3 0 0,-4 0 0,0 0 0,-1 0 0,7 0 0,6 4 0,36-3-6784,15 2 6784,13-3 0,-3 5 0,-35-4 0,1 4 0,-12-5 0,9 0 0,-11 0 0,7 0 6784,-9 0-6784,6 0 0,12 0 0,-23 0 0,20 0 0,-13 0 0,0 0 0,21 0 0,-37 0 0,36-4 0,-38 3 0,17-4 0,-22 3 0,2 2 0,-7-5 0,1 5 0,2-2 0,0-1 0,3 3 0,0-2 0,3-1 0,9 2 0,12-6 0,17 6 0,5 1 0,17-4 0,-12 3 0,0 2 0,12-1 0,2 0 0,14 0 0,-6 0 0,-1 0 0,-16-5 0,-24 4 0,-15-3 0,-19 1 0,-3 3 0,-5-4 0,4 3 0,-1-1 0,0 0 0,1 1 0,-1-1 0,1 0 0,3 1 0,-1-1 0,-2 0 0,1 2 0,-1-3 0,2 3 0,1 0 0,-5-2 0,2 2 0,-3-2 0,1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8T20:49:25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24575,'78'-5'0,"-40"4"0,19-1 0,6 0 0,21 2 0,-4 0 0,-20 0 0,1 0 0,19 0 0,11 0 0,1 0 0,-44 4 0,15-3 0,-15 7 0,-18-7 0,24 4 0,-36-5 0,9 0 0,-6 0 0,2 0 0,0 0 0,1 0 0,-15 0 0,2 0 0,-4-2 0,-2 2 0,2-3 0,-2 3 0,1 0 0,0-2 0,1 2 0,3-5 0,3 4 0,5-2 0,7 0 0,16 2 0,4-3 0,19 4 0,-12 0 0,-3 0 0,-7 0 0,-8 0 0,-7 0 0,5 0 0,-5 0 0,0 0 0,6 0 0,-17 0 0,2 0 0,-11 0 0,0 0 0,-2 0 0,4-2 0,-3 1 0,0-1 0,-1 2 0,0 0 0,0-2 0,5 1 0,-1-3 0,15 0 0,6 1 0,22-5 0,-1 7 0,8-3 0,-17 4 0,-7 0 0,-10 0 0,-11 0 0,0 0 0,-7 0 0,0 0 0,0 0 0,6 0 0,16 0 0,-6 0 0,3 0 0,-17 0 0,-3 0 0,2 0 0,-1 0 0,0 0 0,0 0 0,-2 0 0,2 0 0,-2 0 0,2 0 0,-4-2 0,3 1 0,-3-1 0,2 2 0,0 0 0,1 0 0,27 0 0,15 0 0,33 6 0,-4-5 0,10 5 0,-5-6 0,8 5 0,8-4 0,-22 9 0,-11-9 0,-17 4 0,-25-5 0,1 0 0,-19 0 0,0 0 0,0 0 0,-1 0 0,1 0 0,0 0 0,0 0 0,-1 0 0,1 0 0,0 0 0,0 0 0,-1 0 0,1 0 0,0 0 0,13-4 0,-8 3 0,10-3 0,29 4 0,-18 0 0,52 0 0,-44 0 0,24 0 0,-6 0 0,10 0 0,22 5 0,-5-3 0,-16 3 0,-13-5 0,-34-2 0,-3 2 0,-16-3 0,0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701E17-2E66-5240-A955-5B04D468A4E8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0F7202-B1F8-AE49-82BB-5054280ED7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320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had 41 predictors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0F7202-B1F8-AE49-82BB-5054280ED75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832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7436D-7276-7174-75AF-F96AE51EA4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82E5FB-CCA1-F517-A655-C6A0B4BBA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26B50-D936-A2DD-F1B4-681F2090B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BD457B-A50B-9225-F3F9-B523FBC14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8DA13-814B-4655-8AE2-A2FE39592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589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EB91-64C7-74F9-2874-A9E35063C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7467A-E08F-CCAF-E325-40BB4292D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D09EC8-063D-8F9E-0C82-9244639A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9279C-1809-6199-0792-5D0C5B3FE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70567-9A1E-87B6-388A-71DD780AC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299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FEFF0-DF58-EF41-2EB8-0DA659239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052BB-E81B-F70C-AAB6-74832A5B9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BE9C8-3B2D-B677-0423-172F8E3C4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D39EF4-A199-45C4-AC22-590C72AD0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34B2-3B2C-6530-56B3-55E52C4CD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03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B33D1-35F3-3467-E7E9-DEE64573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3805A-4E83-0A0D-4DC0-1A047E5725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078CD0-68AE-F458-28A4-388C6676E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E9830D-104E-70EB-663C-D328FE99B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F1AAA-4A78-3783-7890-D88CF448B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24D22C-4A19-3D6F-43E3-538BCBF49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7F17E-6179-FE65-4914-39F7D9726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7B68D9-DDA2-7302-A5E4-B42669EBC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66DDA1-CC2B-753F-701D-F477D76CB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4BEB98-30DA-A89E-9CE0-8EADFC82B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FEE3E0-2775-D1BB-50C6-ED0CD1FC99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5F7298-AB41-CC41-2B4F-C8B674E21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198BD-6F5A-CFE8-0D6C-D84D75D1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D005D3-D0A2-A93B-3DEB-31A95EA42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51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25A-C1BC-92DB-03E2-CF6E53E30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2513D1-A343-DC4D-A36A-F2762CE4D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1F471A-4ABC-AE2C-F280-7656D91D7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D669BC-A0BB-83F7-A2D7-375B8DEB6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52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1B4343-89ED-C15E-43B5-0E5EA4736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0F6C9-1AAC-D389-EAAF-6C10D01A9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A34EDF-FC75-0EA1-D72D-43429442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435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DF6CC-8F8D-EF86-4048-7C163A97C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C4BB5-C8F2-6277-A47C-38B48D62E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A48F74-1170-98BC-D35A-2E0B002B0E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3FDC60-8A9E-137C-0784-A262D12B8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77EBD3-0F16-1A26-2288-5F3B89AB2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FBE8B-20B0-12C8-66ED-FA4F73F55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303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753F4-B8DC-061F-0F3A-BC4F8BD80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7C2BDF-9F79-71E5-E3D1-7F304DDC8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0B15C9-3986-F22E-3EDA-A6AD07501C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775E1-F7C1-2FAB-C945-373111C9B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C1582F-F5DB-E6AD-2BFB-BFCECABAA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8BE72A-B6A7-658A-B3AF-9EC7F0557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3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B2A8-611B-B6A4-24AA-86CAF9E66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0B7B5-354B-B649-9D2B-0CB38AB7D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EB09F-F5BC-0940-6674-7617CDF27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8CAD1-6452-9BA2-330D-6066CE916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B4FF6-70A8-DCD4-F070-FC7E8BC71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6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DD6DD0-EBEC-8D8E-28B0-81590FEDA0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6FD34-F265-5D7A-C1D7-72EA329C8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0B88C-3D10-A5CD-777C-A8F9DD947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585DFF-C8DC-B212-06C6-4FE8AE8FA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780E-AD23-BAF8-4175-F0702C193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528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7DEA4A-1F0D-78C6-2994-162AD3EA5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4EDD4-E653-DD6F-20E4-FB0856F29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85F20-A112-7549-6452-0061692763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DE4A9-078E-D646-AE8E-B01AC47AB6EA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C93756-18F3-9F8A-E54E-D791B086C9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7CE48-33A3-13E4-9800-B1B463E96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802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openxmlformats.org/officeDocument/2006/relationships/customXml" Target="../ink/ink2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3.png"/><Relationship Id="rId5" Type="http://schemas.openxmlformats.org/officeDocument/2006/relationships/customXml" Target="../ink/ink1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85D90-E481-2CC1-9955-847BEC79BD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and Model Updates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E8167B-8D63-D035-CEAC-3E823B925E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Structural and policy determinants of NDC</a:t>
            </a:r>
          </a:p>
          <a:p>
            <a:r>
              <a:rPr lang="en-US" dirty="0"/>
              <a:t>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335717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765-70F3-7085-B5F9-9F1A552F3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OECD Policy Stringency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DC3D1-AD8D-6F6C-996F-BCD6F391E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with info for ~40 countries.</a:t>
            </a:r>
          </a:p>
          <a:p>
            <a:r>
              <a:rPr lang="en-US" dirty="0"/>
              <a:t>Policy stringency is measured from 0-6.</a:t>
            </a:r>
          </a:p>
          <a:p>
            <a:r>
              <a:rPr lang="en-US" dirty="0"/>
              <a:t>No relevant signal to predict total emissions.</a:t>
            </a:r>
          </a:p>
          <a:p>
            <a:r>
              <a:rPr lang="en-US" dirty="0"/>
              <a:t>Base Error: 1.637</a:t>
            </a:r>
          </a:p>
          <a:p>
            <a:r>
              <a:rPr lang="en-US" dirty="0"/>
              <a:t>With Policy Error: 1.635</a:t>
            </a:r>
          </a:p>
        </p:txBody>
      </p:sp>
    </p:spTree>
    <p:extLst>
      <p:ext uri="{BB962C8B-B14F-4D97-AF65-F5344CB8AC3E}">
        <p14:creationId xmlns:p14="http://schemas.microsoft.com/office/powerpoint/2010/main" val="17253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C2EF-7519-4F80-C443-542422136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IEA Policy Stock x Governance Estimate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8F62306-AB75-AFF0-1492-407620467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8790" y="1609284"/>
            <a:ext cx="5789700" cy="36394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A272C2-662A-9819-F475-1CDE939E5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09283"/>
            <a:ext cx="5809735" cy="36394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9750A2-FB74-7CE9-F12D-31804749CE6D}"/>
              </a:ext>
            </a:extLst>
          </p:cNvPr>
          <p:cNvSpPr txBox="1"/>
          <p:nvPr/>
        </p:nvSpPr>
        <p:spPr>
          <a:xfrm>
            <a:off x="672751" y="5894174"/>
            <a:ext cx="5998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Also, a very poor signal and does not have predictive power</a:t>
            </a:r>
          </a:p>
        </p:txBody>
      </p:sp>
    </p:spTree>
    <p:extLst>
      <p:ext uri="{BB962C8B-B14F-4D97-AF65-F5344CB8AC3E}">
        <p14:creationId xmlns:p14="http://schemas.microsoft.com/office/powerpoint/2010/main" val="1543584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AEC5C-C8A6-5CF7-7B17-FF1AA2534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Most Relevant Predictors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988FCA4-1504-805B-038E-103A1CFC1C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9999" y="1825625"/>
            <a:ext cx="1045200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372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B8DC1-E65A-95FF-AC4B-0BF9F521E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70D917-B368-FC42-3360-41037E9F9A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4199" y="3062319"/>
            <a:ext cx="11343602" cy="1919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304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F5676-D5F4-5A00-E152-5A40B87FE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 Distribution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BA0EE2D-0738-34C5-EA43-109320F5AB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34497"/>
            <a:ext cx="10515600" cy="4333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130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11F9A-81C5-9E4A-A041-0228A84C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USA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F1C7E4C-7CD1-E2EB-D774-3EC0B6542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7212" y="1962593"/>
            <a:ext cx="6813346" cy="48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213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73C7-54F4-04A7-FA6C-8C4769801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UGA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F2EE68-6C10-CE0C-E9AC-3084AE943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7940" y="1825625"/>
            <a:ext cx="60561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852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F1672-1516-6368-8D55-CBE2B47FA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FRA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E738F0C-6407-90A1-5C04-B645334358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5760" y="1825625"/>
            <a:ext cx="606048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766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94DA4-CF89-5B0E-8DEA-C302EC013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MEX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4FADB4D-2C70-3730-ACF1-550DE31DF8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7940" y="1825625"/>
            <a:ext cx="60561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3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34BC6-5725-DDB5-4328-C950E669F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Emission Predictions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B394944-E39D-F3CD-E4B1-F3F0C09ADD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7940" y="1825625"/>
            <a:ext cx="60561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7666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A70F-91F6-3294-8810-A1D92119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Feb 9th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9D71F0-8B82-205B-FBD4-21072A57A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987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36930-E61C-054D-56C3-9E3E0A45A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2187A2D-B3EF-1295-F79E-897A90E08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055940"/>
            <a:ext cx="10515600" cy="1890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923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868281-61EE-0710-07E9-35EC45FD4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Most Important Features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2617C02-693C-19FB-DF18-C6E0639B0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64A1D3-3D5B-8622-2363-07E01A376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640080"/>
            <a:ext cx="5577840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066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76C7C-C81E-0EB0-A973-66F552CD2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83094-FA89-51BE-7730-71F0A8D03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Feb 16th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8ECBE-F463-DD44-81D6-1278AB1FF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2995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E600D-54B1-69F5-D73D-B5DBD454A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10D73BF-3286-4430-04A2-9C03A8CCBC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84287" y="1506969"/>
            <a:ext cx="8823425" cy="515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9843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4F2F8-A022-9564-774F-613F2A592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Analysis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C06E2D1-A7D5-8B20-9055-895CC34664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56106" y="1677988"/>
            <a:ext cx="5537200" cy="41910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67E592-0C67-D462-E238-DFE4FF84A9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Computed pairwise feature correlation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Tested removal of highly correlated features individually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Dropped features with no performance loss (or improvement)</a:t>
            </a:r>
          </a:p>
        </p:txBody>
      </p:sp>
    </p:spTree>
    <p:extLst>
      <p:ext uri="{BB962C8B-B14F-4D97-AF65-F5344CB8AC3E}">
        <p14:creationId xmlns:p14="http://schemas.microsoft.com/office/powerpoint/2010/main" val="2271154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35B3D-DEE5-FFDD-980D-99BBF12D1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Loadings in Top PCs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3DFF8AC-64B7-B2DF-3ADB-7376E6EA22B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31414"/>
            <a:ext cx="9166412" cy="47397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</a:pPr>
            <a:r>
              <a:rPr kumimoji="0" lang="en-MX" altLang="en-MX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PC1 — Vulnerability and institutional capacity to act</a:t>
            </a:r>
            <a:endParaRPr kumimoji="0" lang="en-MX" altLang="en-MX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ND-GAIN score</a:t>
            </a: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Government effectiveness</a:t>
            </a:r>
          </a:p>
          <a:p>
            <a:pPr>
              <a:lnSpc>
                <a:spcPct val="100000"/>
              </a:lnSpc>
            </a:pPr>
            <a:r>
              <a:rPr kumimoji="0" lang="en-MX" altLang="en-MX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PC2 — Fossil-fuel electricity generation</a:t>
            </a:r>
            <a:endParaRPr kumimoji="0" lang="en-MX" altLang="en-MX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Gas generation share</a:t>
            </a: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Coal generation share</a:t>
            </a:r>
          </a:p>
          <a:p>
            <a:pPr>
              <a:lnSpc>
                <a:spcPct val="100000"/>
              </a:lnSpc>
            </a:pPr>
            <a:r>
              <a:rPr kumimoji="0" lang="en-MX" altLang="en-MX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PC3 — Renewable vs. fossil electricity mix</a:t>
            </a:r>
            <a:endParaRPr kumimoji="0" lang="en-MX" altLang="en-MX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Renewable generation share</a:t>
            </a: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Fossil-fuel generation share</a:t>
            </a:r>
          </a:p>
          <a:p>
            <a:pPr>
              <a:lnSpc>
                <a:spcPct val="100000"/>
              </a:lnSpc>
            </a:pPr>
            <a:r>
              <a:rPr kumimoji="0" lang="en-MX" altLang="en-MX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PC4 — Climate policy adoption</a:t>
            </a:r>
            <a:endParaRPr kumimoji="0" lang="en-MX" altLang="en-MX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Cumulative number of climate laws</a:t>
            </a: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Presence of climate framework law</a:t>
            </a:r>
          </a:p>
          <a:p>
            <a:pPr>
              <a:lnSpc>
                <a:spcPct val="100000"/>
              </a:lnSpc>
            </a:pPr>
            <a:r>
              <a:rPr kumimoji="0" lang="en-MX" altLang="en-MX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PC5 — Land use</a:t>
            </a:r>
            <a:endParaRPr kumimoji="0" lang="en-MX" altLang="en-MX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Agricultural land share of total area</a:t>
            </a: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Forest area share of total area</a:t>
            </a:r>
          </a:p>
          <a:p>
            <a:pPr>
              <a:lnSpc>
                <a:spcPct val="100000"/>
              </a:lnSpc>
            </a:pPr>
            <a:r>
              <a:rPr kumimoji="0" lang="en-MX" altLang="en-MX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PC6 — Carbon pricing policy</a:t>
            </a:r>
            <a:endParaRPr kumimoji="0" lang="en-MX" altLang="en-MX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Carbon pricing coverage</a:t>
            </a:r>
          </a:p>
          <a:p>
            <a:pPr lvl="1">
              <a:lnSpc>
                <a:spcPct val="100000"/>
              </a:lnSpc>
            </a:pPr>
            <a:r>
              <a:rPr kumimoji="0" lang="en-MX" altLang="en-MX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Presence of ETS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MX" altLang="en-MX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5476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5615E-16DC-6F87-76E0-F11B12BCA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Train-test Metrics with Cleaner Feature Set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3F1E076-4069-F978-D11A-BF111639DA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088401"/>
            <a:ext cx="10515600" cy="182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9766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9538-854B-D575-DF99-076C8E9A5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Most Important Features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379C6459-76C1-EF31-6F51-72B105D081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59573" y="457200"/>
            <a:ext cx="6092639" cy="6092639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4D3443-D685-4E03-A761-E6642B63759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Top regression features may differ from the highest PC loadings, but they support the same narrative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narrative centers on institutional capacity, vulnerability, and electricity generation</a:t>
            </a:r>
          </a:p>
        </p:txBody>
      </p:sp>
    </p:spTree>
    <p:extLst>
      <p:ext uri="{BB962C8B-B14F-4D97-AF65-F5344CB8AC3E}">
        <p14:creationId xmlns:p14="http://schemas.microsoft.com/office/powerpoint/2010/main" val="1827224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9100-A6BA-3303-D8F3-5C0747427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Feb 23rd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03E27C-FEFA-943D-9F18-43099CFCB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47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CF4C-7674-8F33-7981-CE6C0DC74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 of the Top Loading Features per PC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70A67AF-7EAB-2682-8124-0F06D9C99D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65514" y="987425"/>
            <a:ext cx="5007547" cy="487362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D9692A-1B9D-176F-9DD3-3D27816EA45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Features are tied to institutional capacity, policy, vulnerabilities, and how electricity is generated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Agricultural land and forest areas are also included.</a:t>
            </a:r>
          </a:p>
        </p:txBody>
      </p:sp>
    </p:spTree>
    <p:extLst>
      <p:ext uri="{BB962C8B-B14F-4D97-AF65-F5344CB8AC3E}">
        <p14:creationId xmlns:p14="http://schemas.microsoft.com/office/powerpoint/2010/main" val="19005944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5C365-AD37-D215-3CF4-8356F94C4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D0F65-5A88-316C-653D-679786018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Ablation Experiment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1996E05-733A-977B-C625-4AB04843AB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510074"/>
            <a:ext cx="6172200" cy="3828326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6C8ACC-6513-F0C2-63FB-41E8AF250A3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obtained the unique feature names that appeared in the top 5 loadings for each principal component.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experiment consisted of training and evaluating the model iteratively by removing one feature at a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features with the lowest loading and from the last principal components are removed first</a:t>
            </a:r>
          </a:p>
        </p:txBody>
      </p:sp>
    </p:spTree>
    <p:extLst>
      <p:ext uri="{BB962C8B-B14F-4D97-AF65-F5344CB8AC3E}">
        <p14:creationId xmlns:p14="http://schemas.microsoft.com/office/powerpoint/2010/main" val="42205391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ACC1F-501E-AA3D-4B0E-2F51DF044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Ablation Experiment Results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19A1FFD-4C7E-8517-2411-B7CA08E6D2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40205" y="1466063"/>
            <a:ext cx="4833742" cy="5271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846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D2E4-886C-8A9D-4923-22976F1B8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5C40C-364B-C38F-163F-1F1D4911A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Training and Evaluation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F997CD1-4AB4-969A-28FD-B572E53DCA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73093" y="995362"/>
            <a:ext cx="4437272" cy="487362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4F2444-067F-82CC-401F-580093D0C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trained the model by removing 7 features from the top loadings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evaluating it we get a similar if not better performance than the original model with correlation filtering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28BFCB-DF0B-4CA7-A5EE-16E6472B3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16" y="4893482"/>
            <a:ext cx="5649506" cy="10290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095729-D5FE-3354-1679-68B218105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316" y="3488051"/>
            <a:ext cx="5649506" cy="95028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4BA9A9B-C3C1-0EF1-91BC-1DF472693607}"/>
                  </a:ext>
                </a:extLst>
              </p14:cNvPr>
              <p14:cNvContentPartPr/>
              <p14:nvPr/>
            </p14:nvContentPartPr>
            <p14:xfrm>
              <a:off x="4567046" y="4049905"/>
              <a:ext cx="1275840" cy="29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4BA9A9B-C3C1-0EF1-91BC-1DF47269360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60926" y="4043785"/>
                <a:ext cx="128808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C955939-FCBA-EC49-5CC5-A087BC224DD0}"/>
                  </a:ext>
                </a:extLst>
              </p14:cNvPr>
              <p14:cNvContentPartPr/>
              <p14:nvPr/>
            </p14:nvContentPartPr>
            <p14:xfrm>
              <a:off x="4565606" y="5496745"/>
              <a:ext cx="1477080" cy="223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C955939-FCBA-EC49-5CC5-A087BC224DD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559486" y="5490625"/>
                <a:ext cx="1489320" cy="34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34693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24E2-88D8-024C-77F8-16B113C0F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Regressors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F2BE5C8-0EDD-575C-E51B-C217CEB4A4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32475" y="987425"/>
            <a:ext cx="4873625" cy="487362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17DCE7-1039-A6B8-9ADF-55085A244A9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key insights it that GDP per capita was filtered out during this process; however it didn’t hurt model performance</a:t>
            </a:r>
          </a:p>
        </p:txBody>
      </p:sp>
    </p:spTree>
    <p:extLst>
      <p:ext uri="{BB962C8B-B14F-4D97-AF65-F5344CB8AC3E}">
        <p14:creationId xmlns:p14="http://schemas.microsoft.com/office/powerpoint/2010/main" val="31558415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88556-73B5-93A3-DA89-DAB98F0E7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50877-98F1-549E-6EFA-DD91AC91A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March 2nd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17B36E-36CB-0488-EF4D-89A4651831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081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52C3D-0621-2923-4756-2732679A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Projected Predictors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6C1DB27-B59F-8813-8C1C-FB7CB4BD24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208462"/>
            <a:ext cx="6172200" cy="4431550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B7DEAA-7B0C-F8E9-16D5-6A66ACA2018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created the projections using ARIMA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different type of variables are treated properly to create realistic projections</a:t>
            </a:r>
          </a:p>
        </p:txBody>
      </p:sp>
    </p:spTree>
    <p:extLst>
      <p:ext uri="{BB962C8B-B14F-4D97-AF65-F5344CB8AC3E}">
        <p14:creationId xmlns:p14="http://schemas.microsoft.com/office/powerpoint/2010/main" val="19570233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8E6F7-149B-9DCF-EF81-2A8EF1D4C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Projected Emissions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762387-AF1C-F834-A3D5-03F9EC9ACC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206867"/>
            <a:ext cx="6172200" cy="443474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6D66F3-8875-5A46-7E41-E78B86A6CE2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the trained model we predicted future emissions using the projected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use the hp filter to clean the trajectories</a:t>
            </a:r>
          </a:p>
        </p:txBody>
      </p:sp>
    </p:spTree>
    <p:extLst>
      <p:ext uri="{BB962C8B-B14F-4D97-AF65-F5344CB8AC3E}">
        <p14:creationId xmlns:p14="http://schemas.microsoft.com/office/powerpoint/2010/main" val="1081841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2873B-C312-4684-E692-9A1C57AD3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following are preliminary results since we’re missing data for key countries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E1E93A3-AD8A-1470-884D-237FD1A102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89805" y="1825625"/>
            <a:ext cx="221238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752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090F7-EE2D-C654-1F4B-FBEDBDF9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601CF-6BE4-C866-E9AF-C8C68B738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Also… Some important countries have 0 chance of meeting their targets which means that we might need to adjust the ARIMA projections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2BF9E56-5A73-6F21-A565-9CA342F978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44411"/>
            <a:ext cx="10515600" cy="291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820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942FE-1D96-9096-18AF-30064B202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 of the probability of meeting the NDC target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A24438-48D5-E376-CEF4-7A6707C0B3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27945"/>
            <a:ext cx="10515600" cy="414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8322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4029D-DB94-B392-D6E8-7EA8431B8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share of countries that meet certain probability?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BE7D58C-A315-AEB1-5868-1D037F853F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04603" y="1825625"/>
            <a:ext cx="658279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3295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72093-C0EE-93E5-DFFA-A166E93B9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March 9th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A3F91-5E4D-C5E6-7245-534CECF34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7903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1957-B5CB-A43F-A479-C75A19E8A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311DEE5-3B7A-E784-A5CF-533825ACF6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27945"/>
            <a:ext cx="10515600" cy="414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7020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535F3-5256-B24D-20B6-3F552AF00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66A7E0F-852C-DC14-B8A1-958241874C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04603" y="1825625"/>
            <a:ext cx="658279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9219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F8DAE2-D5C9-A10E-C942-68FDB6C87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Check the Projections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AB6A7B-148E-9E38-F5CA-87B3E8DED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224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2155</TotalTime>
  <Words>504</Words>
  <Application>Microsoft Macintosh PowerPoint</Application>
  <PresentationFormat>Widescreen</PresentationFormat>
  <Paragraphs>80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Aptos</vt:lpstr>
      <vt:lpstr>Aptos Display</vt:lpstr>
      <vt:lpstr>Arial</vt:lpstr>
      <vt:lpstr>Office Theme</vt:lpstr>
      <vt:lpstr>Data and Model Updates</vt:lpstr>
      <vt:lpstr>OECD Policy Stringency Index</vt:lpstr>
      <vt:lpstr>IEA Policy Stock x Governance Estimate</vt:lpstr>
      <vt:lpstr>Most Relevant Predictors</vt:lpstr>
      <vt:lpstr>Model Evaluation</vt:lpstr>
      <vt:lpstr>Errors Distribution</vt:lpstr>
      <vt:lpstr>ARIMA Projections USA</vt:lpstr>
      <vt:lpstr>ARIMA Projections UGA</vt:lpstr>
      <vt:lpstr>ARIMA Projections FRA</vt:lpstr>
      <vt:lpstr>ARIMA Projections MEX</vt:lpstr>
      <vt:lpstr>Emission Predictions</vt:lpstr>
      <vt:lpstr>Update Feb 9th</vt:lpstr>
      <vt:lpstr>Model Evaluation</vt:lpstr>
      <vt:lpstr>Most Important Features</vt:lpstr>
      <vt:lpstr>Update Feb 16th</vt:lpstr>
      <vt:lpstr>PCA</vt:lpstr>
      <vt:lpstr>Correlation Analysis</vt:lpstr>
      <vt:lpstr>Top Loadings in Top PCs</vt:lpstr>
      <vt:lpstr>Train-test Metrics with Cleaner Feature Set</vt:lpstr>
      <vt:lpstr>Most Important Features</vt:lpstr>
      <vt:lpstr>Update Feb 23rd</vt:lpstr>
      <vt:lpstr>Reminder of the Top Loading Features per PC</vt:lpstr>
      <vt:lpstr>Ablation Experiment</vt:lpstr>
      <vt:lpstr>Ablation Experiment Results</vt:lpstr>
      <vt:lpstr>Model Training and Evaluation</vt:lpstr>
      <vt:lpstr>Top Regressors</vt:lpstr>
      <vt:lpstr>Update March 2nd</vt:lpstr>
      <vt:lpstr>Projected Predictors</vt:lpstr>
      <vt:lpstr>Projected Emissions</vt:lpstr>
      <vt:lpstr>The following are preliminary results since we’re missing data for key countries</vt:lpstr>
      <vt:lpstr>Also… Some important countries have 0 chance of meeting their targets which means that we might need to adjust the ARIMA projections</vt:lpstr>
      <vt:lpstr>Distribution of the probability of meeting the NDC target</vt:lpstr>
      <vt:lpstr>What’s the share of countries that meet certain probability?</vt:lpstr>
      <vt:lpstr>Update March 9th</vt:lpstr>
      <vt:lpstr>PowerPoint Presentation</vt:lpstr>
      <vt:lpstr>PowerPoint Presentation</vt:lpstr>
      <vt:lpstr>Let’s Check the Projections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Antonio Robledo Lara</dc:creator>
  <cp:lastModifiedBy>Juan Antonio Robledo Lara</cp:lastModifiedBy>
  <cp:revision>6</cp:revision>
  <dcterms:created xsi:type="dcterms:W3CDTF">2026-01-23T19:32:47Z</dcterms:created>
  <dcterms:modified xsi:type="dcterms:W3CDTF">2026-03-10T01:02:21Z</dcterms:modified>
</cp:coreProperties>
</file>