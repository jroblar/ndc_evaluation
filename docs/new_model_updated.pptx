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7"/>
  </p:notesMasterIdLst>
  <p:sldIdLst>
    <p:sldId id="256" r:id="rId2"/>
    <p:sldId id="260" r:id="rId3"/>
    <p:sldId id="261" r:id="rId4"/>
    <p:sldId id="262" r:id="rId5"/>
    <p:sldId id="263" r:id="rId6"/>
    <p:sldId id="257" r:id="rId7"/>
    <p:sldId id="258" r:id="rId8"/>
    <p:sldId id="259" r:id="rId9"/>
    <p:sldId id="264" r:id="rId10"/>
    <p:sldId id="265" r:id="rId11"/>
    <p:sldId id="266" r:id="rId12"/>
    <p:sldId id="268" r:id="rId13"/>
    <p:sldId id="267" r:id="rId14"/>
    <p:sldId id="269" r:id="rId15"/>
    <p:sldId id="274" r:id="rId16"/>
    <p:sldId id="270" r:id="rId17"/>
    <p:sldId id="271" r:id="rId18"/>
    <p:sldId id="272" r:id="rId19"/>
    <p:sldId id="273" r:id="rId20"/>
    <p:sldId id="275" r:id="rId21"/>
    <p:sldId id="276" r:id="rId22"/>
    <p:sldId id="277" r:id="rId23"/>
    <p:sldId id="278" r:id="rId24"/>
    <p:sldId id="283" r:id="rId25"/>
    <p:sldId id="279" r:id="rId26"/>
    <p:sldId id="280" r:id="rId27"/>
    <p:sldId id="285" r:id="rId28"/>
    <p:sldId id="284" r:id="rId29"/>
    <p:sldId id="287" r:id="rId30"/>
    <p:sldId id="292" r:id="rId31"/>
    <p:sldId id="294" r:id="rId32"/>
    <p:sldId id="289" r:id="rId33"/>
    <p:sldId id="290" r:id="rId34"/>
    <p:sldId id="301" r:id="rId35"/>
    <p:sldId id="303" r:id="rId36"/>
    <p:sldId id="304" r:id="rId37"/>
    <p:sldId id="305" r:id="rId38"/>
    <p:sldId id="306" r:id="rId39"/>
    <p:sldId id="309" r:id="rId40"/>
    <p:sldId id="310" r:id="rId41"/>
    <p:sldId id="307" r:id="rId42"/>
    <p:sldId id="308" r:id="rId43"/>
    <p:sldId id="311" r:id="rId44"/>
    <p:sldId id="315" r:id="rId45"/>
    <p:sldId id="312" r:id="rId46"/>
    <p:sldId id="313" r:id="rId47"/>
    <p:sldId id="318" r:id="rId48"/>
    <p:sldId id="319" r:id="rId49"/>
    <p:sldId id="314" r:id="rId50"/>
    <p:sldId id="317" r:id="rId51"/>
    <p:sldId id="321" r:id="rId52"/>
    <p:sldId id="320" r:id="rId53"/>
    <p:sldId id="322" r:id="rId54"/>
    <p:sldId id="324" r:id="rId55"/>
    <p:sldId id="328" r:id="rId56"/>
    <p:sldId id="325" r:id="rId57"/>
    <p:sldId id="344" r:id="rId58"/>
    <p:sldId id="345" r:id="rId59"/>
    <p:sldId id="346" r:id="rId60"/>
    <p:sldId id="329" r:id="rId61"/>
    <p:sldId id="326" r:id="rId62"/>
    <p:sldId id="327" r:id="rId63"/>
    <p:sldId id="331" r:id="rId64"/>
    <p:sldId id="330" r:id="rId65"/>
    <p:sldId id="332" r:id="rId66"/>
    <p:sldId id="334" r:id="rId67"/>
    <p:sldId id="335" r:id="rId68"/>
    <p:sldId id="347" r:id="rId69"/>
    <p:sldId id="336" r:id="rId70"/>
    <p:sldId id="337" r:id="rId71"/>
    <p:sldId id="338" r:id="rId72"/>
    <p:sldId id="339" r:id="rId73"/>
    <p:sldId id="348" r:id="rId74"/>
    <p:sldId id="354" r:id="rId75"/>
    <p:sldId id="349" r:id="rId76"/>
    <p:sldId id="350" r:id="rId77"/>
    <p:sldId id="351" r:id="rId78"/>
    <p:sldId id="355" r:id="rId79"/>
    <p:sldId id="356" r:id="rId80"/>
    <p:sldId id="357" r:id="rId81"/>
    <p:sldId id="358" r:id="rId82"/>
    <p:sldId id="359" r:id="rId83"/>
    <p:sldId id="353" r:id="rId84"/>
    <p:sldId id="360" r:id="rId85"/>
    <p:sldId id="361" r:id="rId86"/>
  </p:sldIdLst>
  <p:sldSz cx="12192000" cy="6858000"/>
  <p:notesSz cx="6858000" cy="9144000"/>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3"/>
    <p:restoredTop sz="94845"/>
  </p:normalViewPr>
  <p:slideViewPr>
    <p:cSldViewPr snapToGrid="0">
      <p:cViewPr varScale="1">
        <p:scale>
          <a:sx n="128" d="100"/>
          <a:sy n="128" d="100"/>
        </p:scale>
        <p:origin x="3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20:49:17.062"/>
    </inkml:context>
    <inkml:brush xml:id="br0">
      <inkml:brushProperty name="width" value="0.035" units="cm"/>
      <inkml:brushProperty name="height" value="0.035" units="cm"/>
      <inkml:brushProperty name="color" value="#E71224"/>
    </inkml:brush>
  </inkml:definitions>
  <inkml:trace contextRef="#ctx0" brushRef="#br0">1 16 24575,'7'2'0,"0"1"0,-2-3 0,2 0 0,0 2 0,3-2 0,10 6 0,-4-5 0,17 7 0,1-7 0,9 2 0,14-3 0,-13 0 0,12 0 0,-21 0 0,7 4 0,-1-3 0,2 3 0,14-4 0,23 4 0,-22-3 0,9 4 0,-46-5 0,-6 0 0,-8 0 0,0 0 0,6 0 0,9 0 0,5 0 0,0 0 0,5 0 0,-12 0 0,13 0 0,1 0 0,9 0 0,14 0 0,9 0 0,1 0 0,-1 0 0,-16 0 0,-16 0 0,-9 0 0,-7 0 0,1 0 0,-5 0 0,-3 0 0,-4 0 0,0 0 0,-1 0 0,7 0 0,6 4 0,36-3-6784,15 2 6784,13-3 0,-3 5 0,-35-4 0,1 4 0,-12-5 0,9 0 0,-11 0 0,7 0 6784,-9 0-6784,6 0 0,12 0 0,-23 0 0,20 0 0,-13 0 0,0 0 0,21 0 0,-37 0 0,36-4 0,-38 3 0,17-4 0,-22 3 0,2 2 0,-7-5 0,1 5 0,2-2 0,0-1 0,3 3 0,0-2 0,3-1 0,9 2 0,12-6 0,17 6 0,5 1 0,17-4 0,-12 3 0,0 2 0,12-1 0,2 0 0,14 0 0,-6 0 0,-1 0 0,-16-5 0,-24 4 0,-15-3 0,-19 1 0,-3 3 0,-5-4 0,4 3 0,-1-1 0,0 0 0,1 1 0,-1-1 0,1 0 0,3 1 0,-1-1 0,-2 0 0,1 2 0,-1-3 0,2 3 0,1 0 0,-5-2 0,2 2 0,-3-2 0,1 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20:49:25.214"/>
    </inkml:context>
    <inkml:brush xml:id="br0">
      <inkml:brushProperty name="width" value="0.035" units="cm"/>
      <inkml:brushProperty name="height" value="0.035" units="cm"/>
      <inkml:brushProperty name="color" value="#E71224"/>
    </inkml:brush>
  </inkml:definitions>
  <inkml:trace contextRef="#ctx0" brushRef="#br0">0 52 24575,'78'-5'0,"-40"4"0,19-1 0,6 0 0,21 2 0,-4 0 0,-20 0 0,1 0 0,19 0 0,11 0 0,1 0 0,-44 4 0,15-3 0,-15 7 0,-18-7 0,24 4 0,-36-5 0,9 0 0,-6 0 0,2 0 0,0 0 0,1 0 0,-15 0 0,2 0 0,-4-2 0,-2 2 0,2-3 0,-2 3 0,1 0 0,0-2 0,1 2 0,3-5 0,3 4 0,5-2 0,7 0 0,16 2 0,4-3 0,19 4 0,-12 0 0,-3 0 0,-7 0 0,-8 0 0,-7 0 0,5 0 0,-5 0 0,0 0 0,6 0 0,-17 0 0,2 0 0,-11 0 0,0 0 0,-2 0 0,4-2 0,-3 1 0,0-1 0,-1 2 0,0 0 0,0-2 0,5 1 0,-1-3 0,15 0 0,6 1 0,22-5 0,-1 7 0,8-3 0,-17 4 0,-7 0 0,-10 0 0,-11 0 0,0 0 0,-7 0 0,0 0 0,0 0 0,6 0 0,16 0 0,-6 0 0,3 0 0,-17 0 0,-3 0 0,2 0 0,-1 0 0,0 0 0,0 0 0,-2 0 0,2 0 0,-2 0 0,2 0 0,-4-2 0,3 1 0,-3-1 0,2 2 0,0 0 0,1 0 0,27 0 0,15 0 0,33 6 0,-4-5 0,10 5 0,-5-6 0,8 5 0,8-4 0,-22 9 0,-11-9 0,-17 4 0,-25-5 0,1 0 0,-19 0 0,0 0 0,0 0 0,-1 0 0,1 0 0,0 0 0,0 0 0,-1 0 0,1 0 0,0 0 0,0 0 0,-1 0 0,1 0 0,0 0 0,13-4 0,-8 3 0,10-3 0,29 4 0,-18 0 0,52 0 0,-44 0 0,24 0 0,-6 0 0,10 0 0,22 5 0,-5-3 0,-16 3 0,-13-5 0,-34-2 0,-3 2 0,-16-3 0,0 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8T16:20:46.561"/>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1 114,'58'0,"0"0,11 0,3 0,2-2,1-1,9 0,3 0,3-3,1 1,-24 2,0 1,2 0,5-1,2 0,-2-1,25 1,-2 0,-4 0,-2 0,-11 0,-3 1,-16 2,-1 0,1 0,-5 0,9 0,-20 0,-19 0,5 0,3 0,29 0,-13 0,45-9,-36 7,-2-5,0 0,4 2,34-1,-58 3,24-1,-37 3,6-3,-10 4,-7 0,6 0,4 0,-6-2,8 1,-5-1,24 2,-18 0,16-2,-30 2,1-3,4 3,-1 0,20 0,-11 0,12 0,-10 3,0-2,5 2,-4-3,10 0,-10 3,10-2,2 6,11-6,8 7,11-3,1 0,6-1,0-4,-12 0,-2 0,-31 0,-2 0,-22 0,3 0,0 0,-3 0,17 4,-11-3,11 4,-11-4,29 5,-22-5,21 3,-28-2,12-1,-12 1,7-2,-13 0,0 0,11 0,-5 0,6 0,-7 0,-4 0,1 0,1 0,-3 0,6 0,-3-2,3 1,1-1,-1 2,0 0,1 0,-4 0,0 0,-2 0,1 0,2 0,-2 0,1 0,2-1,-6 0,7 0,-6 1,1 0,7 0,1 0,2 2,1 2,-8 1,-3 0,-4-3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8T16:20:56.835"/>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41,'74'25,"-20"-14,3-3,5-2,3-2,13 0,5-3,-7-2,5-1,-2 0,-11 0,-1 0,2-1,19-2,4-1,-6 0,7 0,-9 0,-17-2,-5 0,32 3,-43-3,-23 8,-14-3,-10 3,8 3,13 1,-4 0,19 0,-23-4,20-4,-23 3,10-4,-15 4,4-3,-4 3,15-1,-13 2,14 0,8 0,-7 0,12 0,4 0,-22 0,16-2,-5 2,-15-3,14 3,-19 0,15 0,-12 0,7 0,-13 0,-1 0,9 0,-6 0,6 0,-8-1,4 0,-3 0,4 1,0 0,5 0,-2 0,0 0,-10-2,5 0,-1-2,0 2,2 0,-4 2,3 0,0 0,-1 0,2-1,-3 0,3-1,-1 2,-2 0,4 0,-4 0,2 0,-2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8T16:20:59.031"/>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9,'84'0,"1"0,-15 0,4 0,-5 0,7 0,-1 0,20 0,-2 0,-24 0,-4 0,-10 0,-3 0,31 0,-19 0,-26 0,8 0,-19 0,12 3,-15-2,0 2,-11-3,4 0,-3 0,3 3,-5-3,30 3,-20-3,44-4,-12 3,-5-5,4 5,-40-3,8 4,-12-2,-3 2,14-2,-11 2,11-2,-12 2,6 0,-3 0,20 0,-12 0,8 0,-2 0,-11 0,9 0,-13 2,-2-2,13 5,-10-4,14 5,-17-6,17 6,-14-5,11 2,-12-3,-3 2,6-2,6 2,-3-2,7 0,-8 2,5-1,-5 3,5-3,-8 1,1-2,-4 0,3 0,-3-4,1 3,4 2,-5 0,3 3,0-4,0 0,1 0,-2 0,-2 0,1 1,1 0,5-2,-5 1,3-3,-5 3,-1 0,4 0,10 7,3 6,13 7,-2 3,-2-4,-7-7,-12-4,-7-8,-39-3,23 0,-29-4,31 1,2 4,1-2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8T16:21:00.923"/>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0,'54'9,"1"0,9-4,6-1,24 1,2 0,-17-5,3 0,-7 0,5 0,-3 0,12 0,-2 0,1 0,0 0,-2-3,-11 1,-15 1,22-4,-52 2,22 2,-22-2,12 3,7 0,-17 0,39 0,-44 0,26 0,-36 0,6 0,1 0,-9 0,10 2,6-1,-16 3,16-4,-9 2,-5-2,5 0,-8 0,8 0,-7 0,6 0,-13 1,8 0,-7 0,6 1,-6-2,2 0,-1 0,3-2,-2 1,-3 0,5-1,-4 2,2 0,1-1,-1 0,-1 0,0 1,2 1,-2 0,2 0,-2-1,0 2,2-1,-4 0,5-1,-3-2,-1 2,14 1,-9 2,8 2,-13-2,-4-1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8T16:21:05.506"/>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46,'80'5,"-19"-5,6 1,15 1,6 1,-17-4,3-1,1-1,4 0,1-1,0 0,0 1,-1 1,1-1,1-2,0-1,-3 2,-6 3,-1 1,-5 0,9-5,-6 0,-10 5,-8-1,-5-3,-9 4,-22 2,5 3,11 2,-1 2,31 0,5-1,1-2,13-2,-15-4,6 0,-12 4,3-3,-4 2,-3-3,23 0,-5 5,12 0,-8 1,2 2,-6-2,11-1,-30-2,2-1,-3 0,0 0,11-1,-1 0,35 3,-6-4,-21-4,-16 3,11-8,-19 8,18-3,-18 4,8-3,-20 2,-5-3,-5 4,-14 0,1 0,3 0,-8 0,19 0,-3 0,17 0,-7 0,5 0,-4-4,-6 1,-6-3,-13 4,-3 0,7 1,-2 0,6-2,-8 2,0-2,2 2,21 0,-14-1,13 2,-19-2,-1 2,1-2,-4 0,3-2,0 2,2 1,2 1,-5 0,8-3,-7 2,6-2,-6 3,-2-2,1-2,1 2,-2-2,2 3,-1 0,1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8T16:20:18.989"/>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26,'35'-2,"-2"0,22 2,-21 0,26 0,-10 4,-12-3,6 4,-24-5,-1 0,-3 0,10 0,-14 0,4 1,-8 0,3 0,4-1,-3 2,5-2,-9 2,6-2,-3 0,1 0,-2 0,1 0,-3 0,6 0,-3 0,-1 0,9 3,-11-2,8 2,-5-3,-5 0,8 0,-6 0,7 0,-5 0,2 0,-1 0,-3 0,11 0,-12 0,7 0,-4 1,-3 0,10 0,-10-1,5 0,-2 0,-1 0,6 0,-6 0,2 0,8 0,-5 0,6 0,-9-1,-4 0,7 0,-5 1,8 0,-6 0,1 0,1-2,-1 1,2-1,-3 2,3 0,-6-2,6 2,-3-2,1 2,1 0,-5 0,6 0,-6 0,3 0,0 0,0 0,3 0,6 0,-4 0,4 0,-6 0,0 0,6 0,-4 0,4 0,0 0,-4-2,9 1,2-1,1 2,10 0,-4 0,-1 0,0 0,-7 0,-4 0,-2 0,0 0,1 0,6 0,5 0,2 0,-6 0,3 0,-10 0,0 0,-1-2,-8 1,1-1,4 2,-4 0,6 0,-11 0,3 0,3 0,-5 0,8 0,-6 0,0 0,0 0,0-1,-3 0,5 0,-2-1,-3 1,8 0,-9-1,7 2,-4-2,1 2,0 0,-1-2,1 2,-2-2,3 2,-1 0,-2 0,2-2,0 2,-1-3,3 2,-4-2,3 2,-1 0,-1 1,2 0,-4 0,5 0,-3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8T16:20:32.604"/>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1,'53'13,"38"3,-35-2,3-4,5 0,35 0,-2 1,-29-6,-1-1,12 2,-26-3,0 0,24 1,-8-4,-10 0,-2 0,-16 0,-12 0,-4 0,-2 0,-3 0,32 0,-28 0,48 0,-40 0,39 5,-44-4,21 3,-5 0,-11-3,17 4,12-5,-21 3,22-2,-24 2,29-3,-19 0,19 0,-35 0,-5 0,39 5,-24-4,31 4,-29-5,-3 0,4 0,-1 0,-9 0,-2 0,-16 0,-9 0,1 0,6 1,4 0,2 0,4-1,-9 0,1 2,-6-1,-2 0,2-1,-1 0,3-2,-4 2,1-3,2 2,-2-2,2 2,-1-2,-2 3,4-2,-3 2,1-2,0 2,-3-4,6 4,-5-3,2 2,4-2,-4 1,5 0,-6-2,-3 4,4-4,1 4,-2-2,2 1,-4-1,4-1,-2 2,1-1,-1 2,-1-2,3 0,-1 2,-2-2,4 0,-6 0,5 0,-2-1,-1 1,2 0,-1 0,1 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8T16:23:43.606"/>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88,'65'-9,"-7"5,5-4,-10 7,16-3,-4 4,1 0,-9 0,-12 0,-6 0,0 0,-14 0,0 0,-14 0,4 0,-6 0,5 0,-6 0,8 0,-8 0,14 0,-13 0,17 0,-16 0,6 0,-9 0,4 0,1 0,-1 0,0 0,11 0,-8 0,17-3,-16 2,11-5,-5 5,6-2,-6 1,-1 1,-6-1,17-2,-7 3,9-2,-17 3,-2-3,-3 3,1-2,1 2,-4 0,4 0,-4 0,4 0,-5 0,3 0,2 0,-5 0,5 0,-3 0,2 0,8 3,-5-3,5 3,-8-3,1 0,-6 0,6 0,-3 0,1 0,3 0,-2 0,8 0,18 0,-7 0,25 0,-27 0,4 0,-13 0,-6 0,-3 0,8 0,0 0,2 0,4 0,2 0,1 0,5 0,-7 0,-4 0,-2 0,-6 0,0 0,1 0,-1 0,0 0,1 0,5-3,-5 1,2-2,-8 2,2 2,-1 0,1 0,0 0,2-2,-5 0,7 0,-3 0,8 2,-5 0,5-2,-8 2,-3-3,1 3,-2 0,7 0,-5 0,5 0,-6 0,7 0,-8 0,3 0,1 0,-5 0,7-1,-6-1,2-1,2 0,0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8T16:20:18.989"/>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26,'35'-2,"-2"0,22 2,-21 0,26 0,-10 4,-12-3,6 4,-24-5,-1 0,-3 0,10 0,-14 0,4 1,-8 0,3 0,4-1,-3 2,5-2,-9 2,6-2,-3 0,1 0,-2 0,1 0,-3 0,6 0,-3 0,-1 0,9 3,-11-2,8 2,-5-3,-5 0,8 0,-6 0,7 0,-5 0,2 0,-1 0,-3 0,11 0,-12 0,7 0,-4 1,-3 0,10 0,-10-1,5 0,-2 0,-1 0,6 0,-6 0,2 0,8 0,-5 0,6 0,-9-1,-4 0,7 0,-5 1,8 0,-6 0,1 0,1-2,-1 1,2-1,-3 2,3 0,-6-2,6 2,-3-2,1 2,1 0,-5 0,6 0,-6 0,3 0,0 0,0 0,3 0,6 0,-4 0,4 0,-6 0,0 0,6 0,-4 0,4 0,0 0,-4-2,9 1,2-1,1 2,10 0,-4 0,-1 0,0 0,-7 0,-4 0,-2 0,0 0,1 0,6 0,5 0,2 0,-6 0,3 0,-10 0,0 0,-1-2,-8 1,1-1,4 2,-4 0,6 0,-11 0,3 0,3 0,-5 0,8 0,-6 0,0 0,0 0,0-1,-3 0,5 0,-2-1,-3 1,8 0,-9-1,7 2,-4-2,1 2,0 0,-1-2,1 2,-2-2,3 2,-1 0,-2 0,2-2,0 2,-1-3,3 2,-4-2,3 2,-1 0,-1 1,2 0,-4 0,5 0,-3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8T16:20:32.604"/>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1,'53'13,"38"3,-35-2,3-4,5 0,35 0,-2 1,-29-6,-1-1,12 2,-26-3,0 0,24 1,-8-4,-10 0,-2 0,-16 0,-12 0,-4 0,-2 0,-3 0,32 0,-28 0,48 0,-40 0,39 5,-44-4,21 3,-5 0,-11-3,17 4,12-5,-21 3,22-2,-24 2,29-3,-19 0,19 0,-35 0,-5 0,39 5,-24-4,31 4,-29-5,-3 0,4 0,-1 0,-9 0,-2 0,-16 0,-9 0,1 0,6 1,4 0,2 0,4-1,-9 0,1 2,-6-1,-2 0,2-1,-1 0,3-2,-4 2,1-3,2 2,-2-2,2 2,-1-2,-2 3,4-2,-3 2,1-2,0 2,-3-4,6 4,-5-3,2 2,4-2,-4 1,5 0,-6-2,-3 4,4-4,1 4,-2-2,2 1,-4-1,4-1,-2 2,1-1,-1 2,-1-2,3 0,-1 2,-2-2,4 0,-6 0,5 0,-2-1,-1 1,2 0,-1 0,1 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8T16:23:43.606"/>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88,'65'-9,"-7"5,5-4,-10 7,16-3,-4 4,1 0,-9 0,-12 0,-6 0,0 0,-14 0,0 0,-14 0,4 0,-6 0,5 0,-6 0,8 0,-8 0,14 0,-13 0,17 0,-16 0,6 0,-9 0,4 0,1 0,-1 0,0 0,11 0,-8 0,17-3,-16 2,11-5,-5 5,6-2,-6 1,-1 1,-6-1,17-2,-7 3,9-2,-17 3,-2-3,-3 3,1-2,1 2,-4 0,4 0,-4 0,4 0,-5 0,3 0,2 0,-5 0,5 0,-3 0,2 0,8 3,-5-3,5 3,-8-3,1 0,-6 0,6 0,-3 0,1 0,3 0,-2 0,8 0,18 0,-7 0,25 0,-27 0,4 0,-13 0,-6 0,-3 0,8 0,0 0,2 0,4 0,2 0,1 0,5 0,-7 0,-4 0,-2 0,-6 0,0 0,1 0,-1 0,0 0,1 0,5-3,-5 1,2-2,-8 2,2 2,-1 0,1 0,0 0,2-2,-5 0,7 0,-3 0,8 2,-5 0,5-2,-8 2,-3-3,1 3,-2 0,7 0,-5 0,5 0,-6 0,7 0,-8 0,3 0,1 0,-5 0,7-1,-6-1,2-1,2 0,0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701E17-2E66-5240-A955-5B04D468A4E8}" type="datetimeFigureOut">
              <a:rPr lang="en-US" smtClean="0"/>
              <a:t>4/28/26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0F7202-B1F8-AE49-82BB-5054280ED757}" type="slidenum">
              <a:rPr lang="en-US" smtClean="0"/>
              <a:t>‹#›</a:t>
            </a:fld>
            <a:endParaRPr lang="en-US"/>
          </a:p>
        </p:txBody>
      </p:sp>
    </p:spTree>
    <p:extLst>
      <p:ext uri="{BB962C8B-B14F-4D97-AF65-F5344CB8AC3E}">
        <p14:creationId xmlns:p14="http://schemas.microsoft.com/office/powerpoint/2010/main" val="4081320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had 41 predictors</a:t>
            </a:r>
          </a:p>
        </p:txBody>
      </p:sp>
      <p:sp>
        <p:nvSpPr>
          <p:cNvPr id="4" name="Slide Number Placeholder 3"/>
          <p:cNvSpPr>
            <a:spLocks noGrp="1"/>
          </p:cNvSpPr>
          <p:nvPr>
            <p:ph type="sldNum" sz="quarter" idx="5"/>
          </p:nvPr>
        </p:nvSpPr>
        <p:spPr/>
        <p:txBody>
          <a:bodyPr/>
          <a:lstStyle/>
          <a:p>
            <a:fld id="{F10F7202-B1F8-AE49-82BB-5054280ED757}" type="slidenum">
              <a:rPr lang="en-US" smtClean="0"/>
              <a:t>16</a:t>
            </a:fld>
            <a:endParaRPr lang="en-US"/>
          </a:p>
        </p:txBody>
      </p:sp>
    </p:spTree>
    <p:extLst>
      <p:ext uri="{BB962C8B-B14F-4D97-AF65-F5344CB8AC3E}">
        <p14:creationId xmlns:p14="http://schemas.microsoft.com/office/powerpoint/2010/main" val="1858832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7436D-7276-7174-75AF-F96AE51EA4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82E5FB-CCA1-F517-A655-C6A0B4BBA0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026B50-D936-A2DD-F1B4-681F2090BF73}"/>
              </a:ext>
            </a:extLst>
          </p:cNvPr>
          <p:cNvSpPr>
            <a:spLocks noGrp="1"/>
          </p:cNvSpPr>
          <p:nvPr>
            <p:ph type="dt" sz="half" idx="10"/>
          </p:nvPr>
        </p:nvSpPr>
        <p:spPr/>
        <p:txBody>
          <a:bodyPr/>
          <a:lstStyle/>
          <a:p>
            <a:fld id="{645DE4A9-078E-D646-AE8E-B01AC47AB6EA}" type="datetimeFigureOut">
              <a:rPr lang="en-US" smtClean="0"/>
              <a:t>4/28/26</a:t>
            </a:fld>
            <a:endParaRPr lang="en-US"/>
          </a:p>
        </p:txBody>
      </p:sp>
      <p:sp>
        <p:nvSpPr>
          <p:cNvPr id="5" name="Footer Placeholder 4">
            <a:extLst>
              <a:ext uri="{FF2B5EF4-FFF2-40B4-BE49-F238E27FC236}">
                <a16:creationId xmlns:a16="http://schemas.microsoft.com/office/drawing/2014/main" id="{18BD457B-A50B-9225-F3F9-B523FBC148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88DA13-814B-4655-8AE2-A2FE39592256}"/>
              </a:ext>
            </a:extLst>
          </p:cNvPr>
          <p:cNvSpPr>
            <a:spLocks noGrp="1"/>
          </p:cNvSpPr>
          <p:nvPr>
            <p:ph type="sldNum" sz="quarter" idx="12"/>
          </p:nvPr>
        </p:nvSpPr>
        <p:spPr/>
        <p:txBody>
          <a:bodyPr/>
          <a:lstStyle/>
          <a:p>
            <a:fld id="{1A49415C-1D0E-494D-BC68-4F94618071E6}" type="slidenum">
              <a:rPr lang="en-US" smtClean="0"/>
              <a:t>‹#›</a:t>
            </a:fld>
            <a:endParaRPr lang="en-US"/>
          </a:p>
        </p:txBody>
      </p:sp>
    </p:spTree>
    <p:extLst>
      <p:ext uri="{BB962C8B-B14F-4D97-AF65-F5344CB8AC3E}">
        <p14:creationId xmlns:p14="http://schemas.microsoft.com/office/powerpoint/2010/main" val="2573589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EB91-64C7-74F9-2874-A9E35063C1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87467A-E08F-CCAF-E325-40BB4292D1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D09EC8-063D-8F9E-0C82-9244639A2848}"/>
              </a:ext>
            </a:extLst>
          </p:cNvPr>
          <p:cNvSpPr>
            <a:spLocks noGrp="1"/>
          </p:cNvSpPr>
          <p:nvPr>
            <p:ph type="dt" sz="half" idx="10"/>
          </p:nvPr>
        </p:nvSpPr>
        <p:spPr/>
        <p:txBody>
          <a:bodyPr/>
          <a:lstStyle/>
          <a:p>
            <a:fld id="{645DE4A9-078E-D646-AE8E-B01AC47AB6EA}" type="datetimeFigureOut">
              <a:rPr lang="en-US" smtClean="0"/>
              <a:t>4/28/26</a:t>
            </a:fld>
            <a:endParaRPr lang="en-US"/>
          </a:p>
        </p:txBody>
      </p:sp>
      <p:sp>
        <p:nvSpPr>
          <p:cNvPr id="5" name="Footer Placeholder 4">
            <a:extLst>
              <a:ext uri="{FF2B5EF4-FFF2-40B4-BE49-F238E27FC236}">
                <a16:creationId xmlns:a16="http://schemas.microsoft.com/office/drawing/2014/main" id="{3009279C-1809-6199-0792-5D0C5B3FE7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770567-9A1E-87B6-388A-71DD780AC0D4}"/>
              </a:ext>
            </a:extLst>
          </p:cNvPr>
          <p:cNvSpPr>
            <a:spLocks noGrp="1"/>
          </p:cNvSpPr>
          <p:nvPr>
            <p:ph type="sldNum" sz="quarter" idx="12"/>
          </p:nvPr>
        </p:nvSpPr>
        <p:spPr/>
        <p:txBody>
          <a:bodyPr/>
          <a:lstStyle/>
          <a:p>
            <a:fld id="{1A49415C-1D0E-494D-BC68-4F94618071E6}" type="slidenum">
              <a:rPr lang="en-US" smtClean="0"/>
              <a:t>‹#›</a:t>
            </a:fld>
            <a:endParaRPr lang="en-US"/>
          </a:p>
        </p:txBody>
      </p:sp>
    </p:spTree>
    <p:extLst>
      <p:ext uri="{BB962C8B-B14F-4D97-AF65-F5344CB8AC3E}">
        <p14:creationId xmlns:p14="http://schemas.microsoft.com/office/powerpoint/2010/main" val="4107299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FEFF0-DF58-EF41-2EB8-0DA6592392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4052BB-E81B-F70C-AAB6-74832A5B9E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1BE9C8-3B2D-B677-0423-172F8E3C48E9}"/>
              </a:ext>
            </a:extLst>
          </p:cNvPr>
          <p:cNvSpPr>
            <a:spLocks noGrp="1"/>
          </p:cNvSpPr>
          <p:nvPr>
            <p:ph type="dt" sz="half" idx="10"/>
          </p:nvPr>
        </p:nvSpPr>
        <p:spPr/>
        <p:txBody>
          <a:bodyPr/>
          <a:lstStyle/>
          <a:p>
            <a:fld id="{645DE4A9-078E-D646-AE8E-B01AC47AB6EA}" type="datetimeFigureOut">
              <a:rPr lang="en-US" smtClean="0"/>
              <a:t>4/28/26</a:t>
            </a:fld>
            <a:endParaRPr lang="en-US"/>
          </a:p>
        </p:txBody>
      </p:sp>
      <p:sp>
        <p:nvSpPr>
          <p:cNvPr id="5" name="Footer Placeholder 4">
            <a:extLst>
              <a:ext uri="{FF2B5EF4-FFF2-40B4-BE49-F238E27FC236}">
                <a16:creationId xmlns:a16="http://schemas.microsoft.com/office/drawing/2014/main" id="{5BD39EF4-A199-45C4-AC22-590C72AD0B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9434B2-3B2C-6530-56B3-55E52C4CDA4D}"/>
              </a:ext>
            </a:extLst>
          </p:cNvPr>
          <p:cNvSpPr>
            <a:spLocks noGrp="1"/>
          </p:cNvSpPr>
          <p:nvPr>
            <p:ph type="sldNum" sz="quarter" idx="12"/>
          </p:nvPr>
        </p:nvSpPr>
        <p:spPr/>
        <p:txBody>
          <a:bodyPr/>
          <a:lstStyle/>
          <a:p>
            <a:fld id="{1A49415C-1D0E-494D-BC68-4F94618071E6}" type="slidenum">
              <a:rPr lang="en-US" smtClean="0"/>
              <a:t>‹#›</a:t>
            </a:fld>
            <a:endParaRPr lang="en-US"/>
          </a:p>
        </p:txBody>
      </p:sp>
    </p:spTree>
    <p:extLst>
      <p:ext uri="{BB962C8B-B14F-4D97-AF65-F5344CB8AC3E}">
        <p14:creationId xmlns:p14="http://schemas.microsoft.com/office/powerpoint/2010/main" val="2072103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B33D1-35F3-3467-E7E9-DEE64573B8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83805A-4E83-0A0D-4DC0-1A047E5725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078CD0-68AE-F458-28A4-388C6676E2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E9830D-104E-70EB-663C-D328FE99B2F9}"/>
              </a:ext>
            </a:extLst>
          </p:cNvPr>
          <p:cNvSpPr>
            <a:spLocks noGrp="1"/>
          </p:cNvSpPr>
          <p:nvPr>
            <p:ph type="dt" sz="half" idx="10"/>
          </p:nvPr>
        </p:nvSpPr>
        <p:spPr/>
        <p:txBody>
          <a:bodyPr/>
          <a:lstStyle/>
          <a:p>
            <a:fld id="{645DE4A9-078E-D646-AE8E-B01AC47AB6EA}" type="datetimeFigureOut">
              <a:rPr lang="en-US" smtClean="0"/>
              <a:t>4/28/26</a:t>
            </a:fld>
            <a:endParaRPr lang="en-US"/>
          </a:p>
        </p:txBody>
      </p:sp>
      <p:sp>
        <p:nvSpPr>
          <p:cNvPr id="6" name="Footer Placeholder 5">
            <a:extLst>
              <a:ext uri="{FF2B5EF4-FFF2-40B4-BE49-F238E27FC236}">
                <a16:creationId xmlns:a16="http://schemas.microsoft.com/office/drawing/2014/main" id="{F73F1AAA-4A78-3783-7890-D88CF448B5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24D22C-4A19-3D6F-43E3-538BCBF49867}"/>
              </a:ext>
            </a:extLst>
          </p:cNvPr>
          <p:cNvSpPr>
            <a:spLocks noGrp="1"/>
          </p:cNvSpPr>
          <p:nvPr>
            <p:ph type="sldNum" sz="quarter" idx="12"/>
          </p:nvPr>
        </p:nvSpPr>
        <p:spPr/>
        <p:txBody>
          <a:bodyPr/>
          <a:lstStyle/>
          <a:p>
            <a:fld id="{1A49415C-1D0E-494D-BC68-4F94618071E6}" type="slidenum">
              <a:rPr lang="en-US" smtClean="0"/>
              <a:t>‹#›</a:t>
            </a:fld>
            <a:endParaRPr lang="en-US"/>
          </a:p>
        </p:txBody>
      </p:sp>
    </p:spTree>
    <p:extLst>
      <p:ext uri="{BB962C8B-B14F-4D97-AF65-F5344CB8AC3E}">
        <p14:creationId xmlns:p14="http://schemas.microsoft.com/office/powerpoint/2010/main" val="96441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7F17E-6179-FE65-4914-39F7D9726B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7B68D9-DDA2-7302-A5E4-B42669EBCC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66DDA1-CC2B-753F-701D-F477D76CB7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4BEB98-30DA-A89E-9CE0-8EADFC82B8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FEE3E0-2775-D1BB-50C6-ED0CD1FC99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5F7298-AB41-CC41-2B4F-C8B674E21224}"/>
              </a:ext>
            </a:extLst>
          </p:cNvPr>
          <p:cNvSpPr>
            <a:spLocks noGrp="1"/>
          </p:cNvSpPr>
          <p:nvPr>
            <p:ph type="dt" sz="half" idx="10"/>
          </p:nvPr>
        </p:nvSpPr>
        <p:spPr/>
        <p:txBody>
          <a:bodyPr/>
          <a:lstStyle/>
          <a:p>
            <a:fld id="{645DE4A9-078E-D646-AE8E-B01AC47AB6EA}" type="datetimeFigureOut">
              <a:rPr lang="en-US" smtClean="0"/>
              <a:t>4/28/26</a:t>
            </a:fld>
            <a:endParaRPr lang="en-US"/>
          </a:p>
        </p:txBody>
      </p:sp>
      <p:sp>
        <p:nvSpPr>
          <p:cNvPr id="8" name="Footer Placeholder 7">
            <a:extLst>
              <a:ext uri="{FF2B5EF4-FFF2-40B4-BE49-F238E27FC236}">
                <a16:creationId xmlns:a16="http://schemas.microsoft.com/office/drawing/2014/main" id="{B90198BD-6F5A-CFE8-0D6C-D84D75D14F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D005D3-D0A2-A93B-3DEB-31A95EA42E78}"/>
              </a:ext>
            </a:extLst>
          </p:cNvPr>
          <p:cNvSpPr>
            <a:spLocks noGrp="1"/>
          </p:cNvSpPr>
          <p:nvPr>
            <p:ph type="sldNum" sz="quarter" idx="12"/>
          </p:nvPr>
        </p:nvSpPr>
        <p:spPr/>
        <p:txBody>
          <a:bodyPr/>
          <a:lstStyle/>
          <a:p>
            <a:fld id="{1A49415C-1D0E-494D-BC68-4F94618071E6}" type="slidenum">
              <a:rPr lang="en-US" smtClean="0"/>
              <a:t>‹#›</a:t>
            </a:fld>
            <a:endParaRPr lang="en-US"/>
          </a:p>
        </p:txBody>
      </p:sp>
    </p:spTree>
    <p:extLst>
      <p:ext uri="{BB962C8B-B14F-4D97-AF65-F5344CB8AC3E}">
        <p14:creationId xmlns:p14="http://schemas.microsoft.com/office/powerpoint/2010/main" val="2729512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DE25A-C1BC-92DB-03E2-CF6E53E305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2513D1-A343-DC4D-A36A-F2762CE4D55D}"/>
              </a:ext>
            </a:extLst>
          </p:cNvPr>
          <p:cNvSpPr>
            <a:spLocks noGrp="1"/>
          </p:cNvSpPr>
          <p:nvPr>
            <p:ph type="dt" sz="half" idx="10"/>
          </p:nvPr>
        </p:nvSpPr>
        <p:spPr/>
        <p:txBody>
          <a:bodyPr/>
          <a:lstStyle/>
          <a:p>
            <a:fld id="{645DE4A9-078E-D646-AE8E-B01AC47AB6EA}" type="datetimeFigureOut">
              <a:rPr lang="en-US" smtClean="0"/>
              <a:t>4/28/26</a:t>
            </a:fld>
            <a:endParaRPr lang="en-US"/>
          </a:p>
        </p:txBody>
      </p:sp>
      <p:sp>
        <p:nvSpPr>
          <p:cNvPr id="4" name="Footer Placeholder 3">
            <a:extLst>
              <a:ext uri="{FF2B5EF4-FFF2-40B4-BE49-F238E27FC236}">
                <a16:creationId xmlns:a16="http://schemas.microsoft.com/office/drawing/2014/main" id="{2D1F471A-4ABC-AE2C-F280-7656D91D7D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D669BC-A0BB-83F7-A2D7-375B8DEB69D0}"/>
              </a:ext>
            </a:extLst>
          </p:cNvPr>
          <p:cNvSpPr>
            <a:spLocks noGrp="1"/>
          </p:cNvSpPr>
          <p:nvPr>
            <p:ph type="sldNum" sz="quarter" idx="12"/>
          </p:nvPr>
        </p:nvSpPr>
        <p:spPr/>
        <p:txBody>
          <a:bodyPr/>
          <a:lstStyle/>
          <a:p>
            <a:fld id="{1A49415C-1D0E-494D-BC68-4F94618071E6}" type="slidenum">
              <a:rPr lang="en-US" smtClean="0"/>
              <a:t>‹#›</a:t>
            </a:fld>
            <a:endParaRPr lang="en-US"/>
          </a:p>
        </p:txBody>
      </p:sp>
    </p:spTree>
    <p:extLst>
      <p:ext uri="{BB962C8B-B14F-4D97-AF65-F5344CB8AC3E}">
        <p14:creationId xmlns:p14="http://schemas.microsoft.com/office/powerpoint/2010/main" val="1427352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1B4343-89ED-C15E-43B5-0E5EA4736E45}"/>
              </a:ext>
            </a:extLst>
          </p:cNvPr>
          <p:cNvSpPr>
            <a:spLocks noGrp="1"/>
          </p:cNvSpPr>
          <p:nvPr>
            <p:ph type="dt" sz="half" idx="10"/>
          </p:nvPr>
        </p:nvSpPr>
        <p:spPr/>
        <p:txBody>
          <a:bodyPr/>
          <a:lstStyle/>
          <a:p>
            <a:fld id="{645DE4A9-078E-D646-AE8E-B01AC47AB6EA}" type="datetimeFigureOut">
              <a:rPr lang="en-US" smtClean="0"/>
              <a:t>4/28/26</a:t>
            </a:fld>
            <a:endParaRPr lang="en-US"/>
          </a:p>
        </p:txBody>
      </p:sp>
      <p:sp>
        <p:nvSpPr>
          <p:cNvPr id="3" name="Footer Placeholder 2">
            <a:extLst>
              <a:ext uri="{FF2B5EF4-FFF2-40B4-BE49-F238E27FC236}">
                <a16:creationId xmlns:a16="http://schemas.microsoft.com/office/drawing/2014/main" id="{6D60F6C9-1AAC-D389-EAAF-6C10D01A97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A34EDF-FC75-0EA1-D72D-43429442DD14}"/>
              </a:ext>
            </a:extLst>
          </p:cNvPr>
          <p:cNvSpPr>
            <a:spLocks noGrp="1"/>
          </p:cNvSpPr>
          <p:nvPr>
            <p:ph type="sldNum" sz="quarter" idx="12"/>
          </p:nvPr>
        </p:nvSpPr>
        <p:spPr/>
        <p:txBody>
          <a:bodyPr/>
          <a:lstStyle/>
          <a:p>
            <a:fld id="{1A49415C-1D0E-494D-BC68-4F94618071E6}" type="slidenum">
              <a:rPr lang="en-US" smtClean="0"/>
              <a:t>‹#›</a:t>
            </a:fld>
            <a:endParaRPr lang="en-US"/>
          </a:p>
        </p:txBody>
      </p:sp>
    </p:spTree>
    <p:extLst>
      <p:ext uri="{BB962C8B-B14F-4D97-AF65-F5344CB8AC3E}">
        <p14:creationId xmlns:p14="http://schemas.microsoft.com/office/powerpoint/2010/main" val="3912435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DF6CC-8F8D-EF86-4048-7C163A97CA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6C4BB5-C8F2-6277-A47C-38B48D62E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A48F74-1170-98BC-D35A-2E0B002B0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3FDC60-8A9E-137C-0784-A262D12B81B0}"/>
              </a:ext>
            </a:extLst>
          </p:cNvPr>
          <p:cNvSpPr>
            <a:spLocks noGrp="1"/>
          </p:cNvSpPr>
          <p:nvPr>
            <p:ph type="dt" sz="half" idx="10"/>
          </p:nvPr>
        </p:nvSpPr>
        <p:spPr/>
        <p:txBody>
          <a:bodyPr/>
          <a:lstStyle/>
          <a:p>
            <a:fld id="{645DE4A9-078E-D646-AE8E-B01AC47AB6EA}" type="datetimeFigureOut">
              <a:rPr lang="en-US" smtClean="0"/>
              <a:t>4/28/26</a:t>
            </a:fld>
            <a:endParaRPr lang="en-US"/>
          </a:p>
        </p:txBody>
      </p:sp>
      <p:sp>
        <p:nvSpPr>
          <p:cNvPr id="6" name="Footer Placeholder 5">
            <a:extLst>
              <a:ext uri="{FF2B5EF4-FFF2-40B4-BE49-F238E27FC236}">
                <a16:creationId xmlns:a16="http://schemas.microsoft.com/office/drawing/2014/main" id="{1E77EBD3-0F16-1A26-2288-5F3B89AB2A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9FBE8B-20B0-12C8-66ED-FA4F73F556F1}"/>
              </a:ext>
            </a:extLst>
          </p:cNvPr>
          <p:cNvSpPr>
            <a:spLocks noGrp="1"/>
          </p:cNvSpPr>
          <p:nvPr>
            <p:ph type="sldNum" sz="quarter" idx="12"/>
          </p:nvPr>
        </p:nvSpPr>
        <p:spPr/>
        <p:txBody>
          <a:bodyPr/>
          <a:lstStyle/>
          <a:p>
            <a:fld id="{1A49415C-1D0E-494D-BC68-4F94618071E6}" type="slidenum">
              <a:rPr lang="en-US" smtClean="0"/>
              <a:t>‹#›</a:t>
            </a:fld>
            <a:endParaRPr lang="en-US"/>
          </a:p>
        </p:txBody>
      </p:sp>
    </p:spTree>
    <p:extLst>
      <p:ext uri="{BB962C8B-B14F-4D97-AF65-F5344CB8AC3E}">
        <p14:creationId xmlns:p14="http://schemas.microsoft.com/office/powerpoint/2010/main" val="3976303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753F4-B8DC-061F-0F3A-BC4F8BD80A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7C2BDF-9F79-71E5-E3D1-7F304DDC8C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0B15C9-3986-F22E-3EDA-A6AD07501C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A775E1-F7C1-2FAB-C945-373111C9B2DF}"/>
              </a:ext>
            </a:extLst>
          </p:cNvPr>
          <p:cNvSpPr>
            <a:spLocks noGrp="1"/>
          </p:cNvSpPr>
          <p:nvPr>
            <p:ph type="dt" sz="half" idx="10"/>
          </p:nvPr>
        </p:nvSpPr>
        <p:spPr/>
        <p:txBody>
          <a:bodyPr/>
          <a:lstStyle/>
          <a:p>
            <a:fld id="{645DE4A9-078E-D646-AE8E-B01AC47AB6EA}" type="datetimeFigureOut">
              <a:rPr lang="en-US" smtClean="0"/>
              <a:t>4/28/26</a:t>
            </a:fld>
            <a:endParaRPr lang="en-US"/>
          </a:p>
        </p:txBody>
      </p:sp>
      <p:sp>
        <p:nvSpPr>
          <p:cNvPr id="6" name="Footer Placeholder 5">
            <a:extLst>
              <a:ext uri="{FF2B5EF4-FFF2-40B4-BE49-F238E27FC236}">
                <a16:creationId xmlns:a16="http://schemas.microsoft.com/office/drawing/2014/main" id="{F3C1582F-F5DB-E6AD-2BFB-BFCECABAAA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8BE72A-B6A7-658A-B3AF-9EC7F05577B8}"/>
              </a:ext>
            </a:extLst>
          </p:cNvPr>
          <p:cNvSpPr>
            <a:spLocks noGrp="1"/>
          </p:cNvSpPr>
          <p:nvPr>
            <p:ph type="sldNum" sz="quarter" idx="12"/>
          </p:nvPr>
        </p:nvSpPr>
        <p:spPr/>
        <p:txBody>
          <a:bodyPr/>
          <a:lstStyle/>
          <a:p>
            <a:fld id="{1A49415C-1D0E-494D-BC68-4F94618071E6}" type="slidenum">
              <a:rPr lang="en-US" smtClean="0"/>
              <a:t>‹#›</a:t>
            </a:fld>
            <a:endParaRPr lang="en-US"/>
          </a:p>
        </p:txBody>
      </p:sp>
    </p:spTree>
    <p:extLst>
      <p:ext uri="{BB962C8B-B14F-4D97-AF65-F5344CB8AC3E}">
        <p14:creationId xmlns:p14="http://schemas.microsoft.com/office/powerpoint/2010/main" val="3851835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BB2A8-611B-B6A4-24AA-86CAF9E667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40B7B5-354B-B649-9D2B-0CB38AB7DF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EEB09F-F5BC-0940-6674-7617CDF27F68}"/>
              </a:ext>
            </a:extLst>
          </p:cNvPr>
          <p:cNvSpPr>
            <a:spLocks noGrp="1"/>
          </p:cNvSpPr>
          <p:nvPr>
            <p:ph type="dt" sz="half" idx="10"/>
          </p:nvPr>
        </p:nvSpPr>
        <p:spPr/>
        <p:txBody>
          <a:bodyPr/>
          <a:lstStyle/>
          <a:p>
            <a:fld id="{645DE4A9-078E-D646-AE8E-B01AC47AB6EA}" type="datetimeFigureOut">
              <a:rPr lang="en-US" smtClean="0"/>
              <a:t>4/28/26</a:t>
            </a:fld>
            <a:endParaRPr lang="en-US"/>
          </a:p>
        </p:txBody>
      </p:sp>
      <p:sp>
        <p:nvSpPr>
          <p:cNvPr id="5" name="Footer Placeholder 4">
            <a:extLst>
              <a:ext uri="{FF2B5EF4-FFF2-40B4-BE49-F238E27FC236}">
                <a16:creationId xmlns:a16="http://schemas.microsoft.com/office/drawing/2014/main" id="{8648CAD1-6452-9BA2-330D-6066CE9165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9B4FF6-70A8-DCD4-F070-FC7E8BC71AC8}"/>
              </a:ext>
            </a:extLst>
          </p:cNvPr>
          <p:cNvSpPr>
            <a:spLocks noGrp="1"/>
          </p:cNvSpPr>
          <p:nvPr>
            <p:ph type="sldNum" sz="quarter" idx="12"/>
          </p:nvPr>
        </p:nvSpPr>
        <p:spPr/>
        <p:txBody>
          <a:bodyPr/>
          <a:lstStyle/>
          <a:p>
            <a:fld id="{1A49415C-1D0E-494D-BC68-4F94618071E6}" type="slidenum">
              <a:rPr lang="en-US" smtClean="0"/>
              <a:t>‹#›</a:t>
            </a:fld>
            <a:endParaRPr lang="en-US"/>
          </a:p>
        </p:txBody>
      </p:sp>
    </p:spTree>
    <p:extLst>
      <p:ext uri="{BB962C8B-B14F-4D97-AF65-F5344CB8AC3E}">
        <p14:creationId xmlns:p14="http://schemas.microsoft.com/office/powerpoint/2010/main" val="63116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DD6DD0-EBEC-8D8E-28B0-81590FEDA0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D6FD34-F265-5D7A-C1D7-72EA329C88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80B88C-3D10-A5CD-777C-A8F9DD947323}"/>
              </a:ext>
            </a:extLst>
          </p:cNvPr>
          <p:cNvSpPr>
            <a:spLocks noGrp="1"/>
          </p:cNvSpPr>
          <p:nvPr>
            <p:ph type="dt" sz="half" idx="10"/>
          </p:nvPr>
        </p:nvSpPr>
        <p:spPr/>
        <p:txBody>
          <a:bodyPr/>
          <a:lstStyle/>
          <a:p>
            <a:fld id="{645DE4A9-078E-D646-AE8E-B01AC47AB6EA}" type="datetimeFigureOut">
              <a:rPr lang="en-US" smtClean="0"/>
              <a:t>4/28/26</a:t>
            </a:fld>
            <a:endParaRPr lang="en-US"/>
          </a:p>
        </p:txBody>
      </p:sp>
      <p:sp>
        <p:nvSpPr>
          <p:cNvPr id="5" name="Footer Placeholder 4">
            <a:extLst>
              <a:ext uri="{FF2B5EF4-FFF2-40B4-BE49-F238E27FC236}">
                <a16:creationId xmlns:a16="http://schemas.microsoft.com/office/drawing/2014/main" id="{6E585DFF-C8DC-B212-06C6-4FE8AE8FA6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E2780E-AD23-BAF8-4175-F0702C193909}"/>
              </a:ext>
            </a:extLst>
          </p:cNvPr>
          <p:cNvSpPr>
            <a:spLocks noGrp="1"/>
          </p:cNvSpPr>
          <p:nvPr>
            <p:ph type="sldNum" sz="quarter" idx="12"/>
          </p:nvPr>
        </p:nvSpPr>
        <p:spPr/>
        <p:txBody>
          <a:bodyPr/>
          <a:lstStyle/>
          <a:p>
            <a:fld id="{1A49415C-1D0E-494D-BC68-4F94618071E6}" type="slidenum">
              <a:rPr lang="en-US" smtClean="0"/>
              <a:t>‹#›</a:t>
            </a:fld>
            <a:endParaRPr lang="en-US"/>
          </a:p>
        </p:txBody>
      </p:sp>
    </p:spTree>
    <p:extLst>
      <p:ext uri="{BB962C8B-B14F-4D97-AF65-F5344CB8AC3E}">
        <p14:creationId xmlns:p14="http://schemas.microsoft.com/office/powerpoint/2010/main" val="3488528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7DEA4A-1F0D-78C6-2994-162AD3EA5A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E4EDD4-E653-DD6F-20E4-FB0856F29F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785F20-A112-7549-6452-0061692763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5DE4A9-078E-D646-AE8E-B01AC47AB6EA}" type="datetimeFigureOut">
              <a:rPr lang="en-US" smtClean="0"/>
              <a:t>4/28/26</a:t>
            </a:fld>
            <a:endParaRPr lang="en-US"/>
          </a:p>
        </p:txBody>
      </p:sp>
      <p:sp>
        <p:nvSpPr>
          <p:cNvPr id="5" name="Footer Placeholder 4">
            <a:extLst>
              <a:ext uri="{FF2B5EF4-FFF2-40B4-BE49-F238E27FC236}">
                <a16:creationId xmlns:a16="http://schemas.microsoft.com/office/drawing/2014/main" id="{07C93756-18F3-9F8A-E54E-D791B086C9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427CE48-33A3-13E4-9800-B1B463E96A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49415C-1D0E-494D-BC68-4F94618071E6}" type="slidenum">
              <a:rPr lang="en-US" smtClean="0"/>
              <a:t>‹#›</a:t>
            </a:fld>
            <a:endParaRPr lang="en-US"/>
          </a:p>
        </p:txBody>
      </p:sp>
    </p:spTree>
    <p:extLst>
      <p:ext uri="{BB962C8B-B14F-4D97-AF65-F5344CB8AC3E}">
        <p14:creationId xmlns:p14="http://schemas.microsoft.com/office/powerpoint/2010/main" val="868802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customXml" Target="../ink/ink2.xml"/><Relationship Id="rId2" Type="http://schemas.openxmlformats.org/officeDocument/2006/relationships/image" Target="../media/image20.png"/><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customXml" Target="../ink/ink1.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customXml" Target="../ink/ink3.xml"/><Relationship Id="rId7" Type="http://schemas.openxmlformats.org/officeDocument/2006/relationships/customXml" Target="../ink/ink5.xml"/><Relationship Id="rId12"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customXml" Target="../ink/ink7.xml"/><Relationship Id="rId5" Type="http://schemas.openxmlformats.org/officeDocument/2006/relationships/customXml" Target="../ink/ink4.xml"/><Relationship Id="rId10" Type="http://schemas.openxmlformats.org/officeDocument/2006/relationships/image" Target="../media/image59.png"/><Relationship Id="rId4" Type="http://schemas.openxmlformats.org/officeDocument/2006/relationships/image" Target="../media/image56.png"/><Relationship Id="rId9" Type="http://schemas.openxmlformats.org/officeDocument/2006/relationships/customXml" Target="../ink/ink6.xml"/></Relationships>
</file>

<file path=ppt/slides/_rels/slide7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customXml" Target="../ink/ink9.xml"/><Relationship Id="rId4" Type="http://schemas.openxmlformats.org/officeDocument/2006/relationships/image" Target="../media/image63.png"/></Relationships>
</file>

<file path=ppt/slides/_rels/slide81.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65.png"/><Relationship Id="rId1" Type="http://schemas.openxmlformats.org/officeDocument/2006/relationships/slideLayout" Target="../slideLayouts/slideLayout8.xml"/><Relationship Id="rId4" Type="http://schemas.openxmlformats.org/officeDocument/2006/relationships/image" Target="../media/image6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customXml" Target="../ink/ink11.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4.png"/><Relationship Id="rId4" Type="http://schemas.openxmlformats.org/officeDocument/2006/relationships/customXml" Target="../ink/ink12.xml"/></Relationships>
</file>

<file path=ppt/slides/_rels/slide8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customXml" Target="../ink/ink13.xml"/><Relationship Id="rId1" Type="http://schemas.openxmlformats.org/officeDocument/2006/relationships/slideLayout" Target="../slideLayouts/slideLayout8.xml"/><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85D90-E481-2CC1-9955-847BEC79BD7A}"/>
              </a:ext>
            </a:extLst>
          </p:cNvPr>
          <p:cNvSpPr>
            <a:spLocks noGrp="1"/>
          </p:cNvSpPr>
          <p:nvPr>
            <p:ph type="ctrTitle"/>
          </p:nvPr>
        </p:nvSpPr>
        <p:spPr/>
        <p:txBody>
          <a:bodyPr/>
          <a:lstStyle/>
          <a:p>
            <a:r>
              <a:rPr lang="en-US" dirty="0"/>
              <a:t>Data and Model Updates</a:t>
            </a:r>
          </a:p>
        </p:txBody>
      </p:sp>
      <p:sp>
        <p:nvSpPr>
          <p:cNvPr id="3" name="Subtitle 2">
            <a:extLst>
              <a:ext uri="{FF2B5EF4-FFF2-40B4-BE49-F238E27FC236}">
                <a16:creationId xmlns:a16="http://schemas.microsoft.com/office/drawing/2014/main" id="{55E8167B-8D63-D035-CEAC-3E823B925EDA}"/>
              </a:ext>
            </a:extLst>
          </p:cNvPr>
          <p:cNvSpPr>
            <a:spLocks noGrp="1"/>
          </p:cNvSpPr>
          <p:nvPr>
            <p:ph type="subTitle" idx="1"/>
          </p:nvPr>
        </p:nvSpPr>
        <p:spPr/>
        <p:txBody>
          <a:bodyPr/>
          <a:lstStyle/>
          <a:p>
            <a:r>
              <a:rPr lang="en-US" dirty="0"/>
              <a:t>Structural and policy determinants of NDC</a:t>
            </a:r>
          </a:p>
          <a:p>
            <a:r>
              <a:rPr lang="en-US" dirty="0"/>
              <a:t>implementation</a:t>
            </a:r>
          </a:p>
        </p:txBody>
      </p:sp>
    </p:spTree>
    <p:extLst>
      <p:ext uri="{BB962C8B-B14F-4D97-AF65-F5344CB8AC3E}">
        <p14:creationId xmlns:p14="http://schemas.microsoft.com/office/powerpoint/2010/main" val="1335717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DB765-70F3-7085-B5F9-9F1A552F3D8D}"/>
              </a:ext>
            </a:extLst>
          </p:cNvPr>
          <p:cNvSpPr>
            <a:spLocks noGrp="1"/>
          </p:cNvSpPr>
          <p:nvPr>
            <p:ph type="title"/>
          </p:nvPr>
        </p:nvSpPr>
        <p:spPr/>
        <p:txBody>
          <a:bodyPr/>
          <a:lstStyle/>
          <a:p>
            <a:r>
              <a:rPr lang="en-US" dirty="0"/>
              <a:t>OECD Policy Stringency Index</a:t>
            </a:r>
          </a:p>
        </p:txBody>
      </p:sp>
      <p:sp>
        <p:nvSpPr>
          <p:cNvPr id="3" name="Content Placeholder 2">
            <a:extLst>
              <a:ext uri="{FF2B5EF4-FFF2-40B4-BE49-F238E27FC236}">
                <a16:creationId xmlns:a16="http://schemas.microsoft.com/office/drawing/2014/main" id="{581DC3D1-AD8D-6F6C-996F-BCD6F391E2B2}"/>
              </a:ext>
            </a:extLst>
          </p:cNvPr>
          <p:cNvSpPr>
            <a:spLocks noGrp="1"/>
          </p:cNvSpPr>
          <p:nvPr>
            <p:ph idx="1"/>
          </p:nvPr>
        </p:nvSpPr>
        <p:spPr/>
        <p:txBody>
          <a:bodyPr/>
          <a:lstStyle/>
          <a:p>
            <a:r>
              <a:rPr lang="en-US" dirty="0"/>
              <a:t>Database with info for ~40 countries.</a:t>
            </a:r>
          </a:p>
          <a:p>
            <a:r>
              <a:rPr lang="en-US" dirty="0"/>
              <a:t>Policy stringency is measured from 0-6.</a:t>
            </a:r>
          </a:p>
          <a:p>
            <a:r>
              <a:rPr lang="en-US" dirty="0"/>
              <a:t>No relevant signal to predict total emissions.</a:t>
            </a:r>
          </a:p>
          <a:p>
            <a:r>
              <a:rPr lang="en-US" dirty="0"/>
              <a:t>Base Error: 1.637</a:t>
            </a:r>
          </a:p>
          <a:p>
            <a:r>
              <a:rPr lang="en-US" dirty="0"/>
              <a:t>With Policy Error: 1.635</a:t>
            </a:r>
          </a:p>
        </p:txBody>
      </p:sp>
    </p:spTree>
    <p:extLst>
      <p:ext uri="{BB962C8B-B14F-4D97-AF65-F5344CB8AC3E}">
        <p14:creationId xmlns:p14="http://schemas.microsoft.com/office/powerpoint/2010/main" val="1725363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0C2EF-7519-4F80-C443-542422136B5E}"/>
              </a:ext>
            </a:extLst>
          </p:cNvPr>
          <p:cNvSpPr>
            <a:spLocks noGrp="1"/>
          </p:cNvSpPr>
          <p:nvPr>
            <p:ph type="title"/>
          </p:nvPr>
        </p:nvSpPr>
        <p:spPr/>
        <p:txBody>
          <a:bodyPr/>
          <a:lstStyle/>
          <a:p>
            <a:r>
              <a:rPr lang="en-US"/>
              <a:t>IEA Policy Stock x Governance Estimate</a:t>
            </a:r>
            <a:endParaRPr lang="en-US" dirty="0"/>
          </a:p>
        </p:txBody>
      </p:sp>
      <p:pic>
        <p:nvPicPr>
          <p:cNvPr id="4" name="Content Placeholder 3">
            <a:extLst>
              <a:ext uri="{FF2B5EF4-FFF2-40B4-BE49-F238E27FC236}">
                <a16:creationId xmlns:a16="http://schemas.microsoft.com/office/drawing/2014/main" id="{48F62306-AB75-AFF0-1492-407620467534}"/>
              </a:ext>
            </a:extLst>
          </p:cNvPr>
          <p:cNvPicPr>
            <a:picLocks noGrp="1" noChangeAspect="1"/>
          </p:cNvPicPr>
          <p:nvPr>
            <p:ph idx="1"/>
          </p:nvPr>
        </p:nvPicPr>
        <p:blipFill>
          <a:blip r:embed="rId2"/>
          <a:stretch>
            <a:fillRect/>
          </a:stretch>
        </p:blipFill>
        <p:spPr>
          <a:xfrm>
            <a:off x="118790" y="1609284"/>
            <a:ext cx="5789700" cy="3639431"/>
          </a:xfrm>
          <a:prstGeom prst="rect">
            <a:avLst/>
          </a:prstGeom>
        </p:spPr>
      </p:pic>
      <p:pic>
        <p:nvPicPr>
          <p:cNvPr id="5" name="Picture 4">
            <a:extLst>
              <a:ext uri="{FF2B5EF4-FFF2-40B4-BE49-F238E27FC236}">
                <a16:creationId xmlns:a16="http://schemas.microsoft.com/office/drawing/2014/main" id="{B1A272C2-662A-9819-F475-1CDE939E52FA}"/>
              </a:ext>
            </a:extLst>
          </p:cNvPr>
          <p:cNvPicPr>
            <a:picLocks noChangeAspect="1"/>
          </p:cNvPicPr>
          <p:nvPr/>
        </p:nvPicPr>
        <p:blipFill>
          <a:blip r:embed="rId3"/>
          <a:stretch>
            <a:fillRect/>
          </a:stretch>
        </p:blipFill>
        <p:spPr>
          <a:xfrm>
            <a:off x="6096000" y="1609283"/>
            <a:ext cx="5809735" cy="3639432"/>
          </a:xfrm>
          <a:prstGeom prst="rect">
            <a:avLst/>
          </a:prstGeom>
        </p:spPr>
      </p:pic>
      <p:sp>
        <p:nvSpPr>
          <p:cNvPr id="6" name="TextBox 5">
            <a:extLst>
              <a:ext uri="{FF2B5EF4-FFF2-40B4-BE49-F238E27FC236}">
                <a16:creationId xmlns:a16="http://schemas.microsoft.com/office/drawing/2014/main" id="{A79750A2-FB74-7CE9-F12D-31804749CE6D}"/>
              </a:ext>
            </a:extLst>
          </p:cNvPr>
          <p:cNvSpPr txBox="1"/>
          <p:nvPr/>
        </p:nvSpPr>
        <p:spPr>
          <a:xfrm>
            <a:off x="672751" y="5894174"/>
            <a:ext cx="5998245" cy="369332"/>
          </a:xfrm>
          <a:prstGeom prst="rect">
            <a:avLst/>
          </a:prstGeom>
          <a:noFill/>
        </p:spPr>
        <p:txBody>
          <a:bodyPr wrap="none" rtlCol="0">
            <a:spAutoFit/>
          </a:bodyPr>
          <a:lstStyle/>
          <a:p>
            <a:r>
              <a:rPr lang="en-US" dirty="0"/>
              <a:t>Also, a very poor signal and does not have predictive power</a:t>
            </a:r>
          </a:p>
        </p:txBody>
      </p:sp>
    </p:spTree>
    <p:extLst>
      <p:ext uri="{BB962C8B-B14F-4D97-AF65-F5344CB8AC3E}">
        <p14:creationId xmlns:p14="http://schemas.microsoft.com/office/powerpoint/2010/main" val="1543584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C5C-C8A6-5CF7-7B17-FF1AA2534FAE}"/>
              </a:ext>
            </a:extLst>
          </p:cNvPr>
          <p:cNvSpPr>
            <a:spLocks noGrp="1"/>
          </p:cNvSpPr>
          <p:nvPr>
            <p:ph type="title"/>
          </p:nvPr>
        </p:nvSpPr>
        <p:spPr/>
        <p:txBody>
          <a:bodyPr/>
          <a:lstStyle/>
          <a:p>
            <a:r>
              <a:rPr lang="en-US" dirty="0"/>
              <a:t>Most Relevant Predictors</a:t>
            </a:r>
          </a:p>
        </p:txBody>
      </p:sp>
      <p:pic>
        <p:nvPicPr>
          <p:cNvPr id="4" name="Content Placeholder 3">
            <a:extLst>
              <a:ext uri="{FF2B5EF4-FFF2-40B4-BE49-F238E27FC236}">
                <a16:creationId xmlns:a16="http://schemas.microsoft.com/office/drawing/2014/main" id="{9988FCA4-1504-805B-038E-103A1CFC1CD1}"/>
              </a:ext>
            </a:extLst>
          </p:cNvPr>
          <p:cNvPicPr>
            <a:picLocks noGrp="1" noChangeAspect="1"/>
          </p:cNvPicPr>
          <p:nvPr>
            <p:ph idx="1"/>
          </p:nvPr>
        </p:nvPicPr>
        <p:blipFill>
          <a:blip r:embed="rId2"/>
          <a:stretch>
            <a:fillRect/>
          </a:stretch>
        </p:blipFill>
        <p:spPr>
          <a:xfrm>
            <a:off x="869999" y="1825625"/>
            <a:ext cx="10452001" cy="4351338"/>
          </a:xfrm>
          <a:prstGeom prst="rect">
            <a:avLst/>
          </a:prstGeom>
        </p:spPr>
      </p:pic>
    </p:spTree>
    <p:extLst>
      <p:ext uri="{BB962C8B-B14F-4D97-AF65-F5344CB8AC3E}">
        <p14:creationId xmlns:p14="http://schemas.microsoft.com/office/powerpoint/2010/main" val="1764372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B8DC1-E65A-95FF-AC4B-0BF9F521EE53}"/>
              </a:ext>
            </a:extLst>
          </p:cNvPr>
          <p:cNvSpPr>
            <a:spLocks noGrp="1"/>
          </p:cNvSpPr>
          <p:nvPr>
            <p:ph type="title"/>
          </p:nvPr>
        </p:nvSpPr>
        <p:spPr/>
        <p:txBody>
          <a:bodyPr/>
          <a:lstStyle/>
          <a:p>
            <a:r>
              <a:rPr lang="en-US" dirty="0"/>
              <a:t>Model Evaluation</a:t>
            </a:r>
          </a:p>
        </p:txBody>
      </p:sp>
      <p:pic>
        <p:nvPicPr>
          <p:cNvPr id="4" name="Content Placeholder 3">
            <a:extLst>
              <a:ext uri="{FF2B5EF4-FFF2-40B4-BE49-F238E27FC236}">
                <a16:creationId xmlns:a16="http://schemas.microsoft.com/office/drawing/2014/main" id="{1070D917-B368-FC42-3360-41037E9F9AB2}"/>
              </a:ext>
            </a:extLst>
          </p:cNvPr>
          <p:cNvPicPr>
            <a:picLocks noGrp="1" noChangeAspect="1"/>
          </p:cNvPicPr>
          <p:nvPr>
            <p:ph idx="1"/>
          </p:nvPr>
        </p:nvPicPr>
        <p:blipFill>
          <a:blip r:embed="rId2"/>
          <a:stretch>
            <a:fillRect/>
          </a:stretch>
        </p:blipFill>
        <p:spPr>
          <a:xfrm>
            <a:off x="424199" y="3062319"/>
            <a:ext cx="11343602" cy="1919308"/>
          </a:xfrm>
          <a:prstGeom prst="rect">
            <a:avLst/>
          </a:prstGeom>
        </p:spPr>
      </p:pic>
    </p:spTree>
    <p:extLst>
      <p:ext uri="{BB962C8B-B14F-4D97-AF65-F5344CB8AC3E}">
        <p14:creationId xmlns:p14="http://schemas.microsoft.com/office/powerpoint/2010/main" val="2020304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F5676-D5F4-5A00-E152-5A40B87FE2BF}"/>
              </a:ext>
            </a:extLst>
          </p:cNvPr>
          <p:cNvSpPr>
            <a:spLocks noGrp="1"/>
          </p:cNvSpPr>
          <p:nvPr>
            <p:ph type="title"/>
          </p:nvPr>
        </p:nvSpPr>
        <p:spPr/>
        <p:txBody>
          <a:bodyPr/>
          <a:lstStyle/>
          <a:p>
            <a:r>
              <a:rPr lang="en-US" dirty="0"/>
              <a:t>Errors Distribution</a:t>
            </a:r>
          </a:p>
        </p:txBody>
      </p:sp>
      <p:pic>
        <p:nvPicPr>
          <p:cNvPr id="4" name="Content Placeholder 3">
            <a:extLst>
              <a:ext uri="{FF2B5EF4-FFF2-40B4-BE49-F238E27FC236}">
                <a16:creationId xmlns:a16="http://schemas.microsoft.com/office/drawing/2014/main" id="{2BA0EE2D-0738-34C5-EA43-109320F5AB13}"/>
              </a:ext>
            </a:extLst>
          </p:cNvPr>
          <p:cNvPicPr>
            <a:picLocks noGrp="1" noChangeAspect="1"/>
          </p:cNvPicPr>
          <p:nvPr>
            <p:ph idx="1"/>
          </p:nvPr>
        </p:nvPicPr>
        <p:blipFill>
          <a:blip r:embed="rId2"/>
          <a:stretch>
            <a:fillRect/>
          </a:stretch>
        </p:blipFill>
        <p:spPr>
          <a:xfrm>
            <a:off x="838200" y="1834497"/>
            <a:ext cx="10515600" cy="4333594"/>
          </a:xfrm>
          <a:prstGeom prst="rect">
            <a:avLst/>
          </a:prstGeom>
        </p:spPr>
      </p:pic>
    </p:spTree>
    <p:extLst>
      <p:ext uri="{BB962C8B-B14F-4D97-AF65-F5344CB8AC3E}">
        <p14:creationId xmlns:p14="http://schemas.microsoft.com/office/powerpoint/2010/main" val="2707130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11F9A-81C5-9E4A-A041-0228A84CB4A7}"/>
              </a:ext>
            </a:extLst>
          </p:cNvPr>
          <p:cNvSpPr>
            <a:spLocks noGrp="1"/>
          </p:cNvSpPr>
          <p:nvPr>
            <p:ph type="title"/>
          </p:nvPr>
        </p:nvSpPr>
        <p:spPr/>
        <p:txBody>
          <a:bodyPr/>
          <a:lstStyle/>
          <a:p>
            <a:r>
              <a:rPr lang="en-US" dirty="0"/>
              <a:t>ARIMA Projections USA</a:t>
            </a:r>
          </a:p>
        </p:txBody>
      </p:sp>
      <p:pic>
        <p:nvPicPr>
          <p:cNvPr id="4" name="Content Placeholder 3">
            <a:extLst>
              <a:ext uri="{FF2B5EF4-FFF2-40B4-BE49-F238E27FC236}">
                <a16:creationId xmlns:a16="http://schemas.microsoft.com/office/drawing/2014/main" id="{7F1C7E4C-7CD1-E2EB-D774-3EC0B6542D22}"/>
              </a:ext>
            </a:extLst>
          </p:cNvPr>
          <p:cNvPicPr>
            <a:picLocks noGrp="1" noChangeAspect="1"/>
          </p:cNvPicPr>
          <p:nvPr>
            <p:ph idx="1"/>
          </p:nvPr>
        </p:nvPicPr>
        <p:blipFill>
          <a:blip r:embed="rId2"/>
          <a:stretch>
            <a:fillRect/>
          </a:stretch>
        </p:blipFill>
        <p:spPr>
          <a:xfrm>
            <a:off x="2397212" y="1962593"/>
            <a:ext cx="6813346" cy="4895407"/>
          </a:xfrm>
          <a:prstGeom prst="rect">
            <a:avLst/>
          </a:prstGeom>
        </p:spPr>
      </p:pic>
    </p:spTree>
    <p:extLst>
      <p:ext uri="{BB962C8B-B14F-4D97-AF65-F5344CB8AC3E}">
        <p14:creationId xmlns:p14="http://schemas.microsoft.com/office/powerpoint/2010/main" val="2056213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373C7-54F4-04A7-FA6C-8C4769801C93}"/>
              </a:ext>
            </a:extLst>
          </p:cNvPr>
          <p:cNvSpPr>
            <a:spLocks noGrp="1"/>
          </p:cNvSpPr>
          <p:nvPr>
            <p:ph type="title"/>
          </p:nvPr>
        </p:nvSpPr>
        <p:spPr/>
        <p:txBody>
          <a:bodyPr/>
          <a:lstStyle/>
          <a:p>
            <a:r>
              <a:rPr lang="en-US" dirty="0"/>
              <a:t>ARIMA Projections UGA</a:t>
            </a:r>
          </a:p>
        </p:txBody>
      </p:sp>
      <p:pic>
        <p:nvPicPr>
          <p:cNvPr id="4" name="Content Placeholder 3">
            <a:extLst>
              <a:ext uri="{FF2B5EF4-FFF2-40B4-BE49-F238E27FC236}">
                <a16:creationId xmlns:a16="http://schemas.microsoft.com/office/drawing/2014/main" id="{8DF2EE68-6C10-CE0C-E9AC-3084AE9431F2}"/>
              </a:ext>
            </a:extLst>
          </p:cNvPr>
          <p:cNvPicPr>
            <a:picLocks noGrp="1" noChangeAspect="1"/>
          </p:cNvPicPr>
          <p:nvPr>
            <p:ph idx="1"/>
          </p:nvPr>
        </p:nvPicPr>
        <p:blipFill>
          <a:blip r:embed="rId2"/>
          <a:stretch>
            <a:fillRect/>
          </a:stretch>
        </p:blipFill>
        <p:spPr>
          <a:xfrm>
            <a:off x="3067940" y="1825625"/>
            <a:ext cx="6056120" cy="4351338"/>
          </a:xfrm>
          <a:prstGeom prst="rect">
            <a:avLst/>
          </a:prstGeom>
        </p:spPr>
      </p:pic>
    </p:spTree>
    <p:extLst>
      <p:ext uri="{BB962C8B-B14F-4D97-AF65-F5344CB8AC3E}">
        <p14:creationId xmlns:p14="http://schemas.microsoft.com/office/powerpoint/2010/main" val="2816852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F1672-1516-6368-8D55-CBE2B47FA9ED}"/>
              </a:ext>
            </a:extLst>
          </p:cNvPr>
          <p:cNvSpPr>
            <a:spLocks noGrp="1"/>
          </p:cNvSpPr>
          <p:nvPr>
            <p:ph type="title"/>
          </p:nvPr>
        </p:nvSpPr>
        <p:spPr/>
        <p:txBody>
          <a:bodyPr/>
          <a:lstStyle/>
          <a:p>
            <a:r>
              <a:rPr lang="en-US" dirty="0"/>
              <a:t>ARIMA Projections FRA</a:t>
            </a:r>
          </a:p>
        </p:txBody>
      </p:sp>
      <p:pic>
        <p:nvPicPr>
          <p:cNvPr id="4" name="Content Placeholder 3">
            <a:extLst>
              <a:ext uri="{FF2B5EF4-FFF2-40B4-BE49-F238E27FC236}">
                <a16:creationId xmlns:a16="http://schemas.microsoft.com/office/drawing/2014/main" id="{AE738F0C-6407-90A1-5C04-B64533435852}"/>
              </a:ext>
            </a:extLst>
          </p:cNvPr>
          <p:cNvPicPr>
            <a:picLocks noGrp="1" noChangeAspect="1"/>
          </p:cNvPicPr>
          <p:nvPr>
            <p:ph idx="1"/>
          </p:nvPr>
        </p:nvPicPr>
        <p:blipFill>
          <a:blip r:embed="rId2"/>
          <a:stretch>
            <a:fillRect/>
          </a:stretch>
        </p:blipFill>
        <p:spPr>
          <a:xfrm>
            <a:off x="3065760" y="1825625"/>
            <a:ext cx="6060480" cy="4351338"/>
          </a:xfrm>
          <a:prstGeom prst="rect">
            <a:avLst/>
          </a:prstGeom>
        </p:spPr>
      </p:pic>
    </p:spTree>
    <p:extLst>
      <p:ext uri="{BB962C8B-B14F-4D97-AF65-F5344CB8AC3E}">
        <p14:creationId xmlns:p14="http://schemas.microsoft.com/office/powerpoint/2010/main" val="2256766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94DA4-CF89-5B0E-8DEA-C302EC0134EB}"/>
              </a:ext>
            </a:extLst>
          </p:cNvPr>
          <p:cNvSpPr>
            <a:spLocks noGrp="1"/>
          </p:cNvSpPr>
          <p:nvPr>
            <p:ph type="title"/>
          </p:nvPr>
        </p:nvSpPr>
        <p:spPr/>
        <p:txBody>
          <a:bodyPr/>
          <a:lstStyle/>
          <a:p>
            <a:r>
              <a:rPr lang="en-US" dirty="0"/>
              <a:t>ARIMA Projections MEX</a:t>
            </a:r>
          </a:p>
        </p:txBody>
      </p:sp>
      <p:pic>
        <p:nvPicPr>
          <p:cNvPr id="4" name="Content Placeholder 3">
            <a:extLst>
              <a:ext uri="{FF2B5EF4-FFF2-40B4-BE49-F238E27FC236}">
                <a16:creationId xmlns:a16="http://schemas.microsoft.com/office/drawing/2014/main" id="{B4FADB4D-2C70-3730-ACF1-550DE31DF8BF}"/>
              </a:ext>
            </a:extLst>
          </p:cNvPr>
          <p:cNvPicPr>
            <a:picLocks noGrp="1" noChangeAspect="1"/>
          </p:cNvPicPr>
          <p:nvPr>
            <p:ph idx="1"/>
          </p:nvPr>
        </p:nvPicPr>
        <p:blipFill>
          <a:blip r:embed="rId2"/>
          <a:stretch>
            <a:fillRect/>
          </a:stretch>
        </p:blipFill>
        <p:spPr>
          <a:xfrm>
            <a:off x="3067940" y="1825625"/>
            <a:ext cx="6056120" cy="4351338"/>
          </a:xfrm>
          <a:prstGeom prst="rect">
            <a:avLst/>
          </a:prstGeom>
        </p:spPr>
      </p:pic>
    </p:spTree>
    <p:extLst>
      <p:ext uri="{BB962C8B-B14F-4D97-AF65-F5344CB8AC3E}">
        <p14:creationId xmlns:p14="http://schemas.microsoft.com/office/powerpoint/2010/main" val="437733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34BC6-5725-DDB5-4328-C950E669F560}"/>
              </a:ext>
            </a:extLst>
          </p:cNvPr>
          <p:cNvSpPr>
            <a:spLocks noGrp="1"/>
          </p:cNvSpPr>
          <p:nvPr>
            <p:ph type="title"/>
          </p:nvPr>
        </p:nvSpPr>
        <p:spPr/>
        <p:txBody>
          <a:bodyPr/>
          <a:lstStyle/>
          <a:p>
            <a:r>
              <a:rPr lang="en-US" dirty="0"/>
              <a:t>Emission Predictions</a:t>
            </a:r>
          </a:p>
        </p:txBody>
      </p:sp>
      <p:pic>
        <p:nvPicPr>
          <p:cNvPr id="4" name="Content Placeholder 3">
            <a:extLst>
              <a:ext uri="{FF2B5EF4-FFF2-40B4-BE49-F238E27FC236}">
                <a16:creationId xmlns:a16="http://schemas.microsoft.com/office/drawing/2014/main" id="{AB394944-E39D-F3CD-E4B1-F3F0C09ADD56}"/>
              </a:ext>
            </a:extLst>
          </p:cNvPr>
          <p:cNvPicPr>
            <a:picLocks noGrp="1" noChangeAspect="1"/>
          </p:cNvPicPr>
          <p:nvPr>
            <p:ph idx="1"/>
          </p:nvPr>
        </p:nvPicPr>
        <p:blipFill>
          <a:blip r:embed="rId2"/>
          <a:stretch>
            <a:fillRect/>
          </a:stretch>
        </p:blipFill>
        <p:spPr>
          <a:xfrm>
            <a:off x="3067940" y="1825625"/>
            <a:ext cx="6056120" cy="4351338"/>
          </a:xfrm>
          <a:prstGeom prst="rect">
            <a:avLst/>
          </a:prstGeom>
        </p:spPr>
      </p:pic>
    </p:spTree>
    <p:extLst>
      <p:ext uri="{BB962C8B-B14F-4D97-AF65-F5344CB8AC3E}">
        <p14:creationId xmlns:p14="http://schemas.microsoft.com/office/powerpoint/2010/main" val="2053766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3A70F-91F6-3294-8810-A1D92119C80C}"/>
              </a:ext>
            </a:extLst>
          </p:cNvPr>
          <p:cNvSpPr>
            <a:spLocks noGrp="1"/>
          </p:cNvSpPr>
          <p:nvPr>
            <p:ph type="title"/>
          </p:nvPr>
        </p:nvSpPr>
        <p:spPr/>
        <p:txBody>
          <a:bodyPr/>
          <a:lstStyle/>
          <a:p>
            <a:r>
              <a:rPr lang="en-US" dirty="0"/>
              <a:t>Update Feb 9th</a:t>
            </a:r>
          </a:p>
        </p:txBody>
      </p:sp>
      <p:sp>
        <p:nvSpPr>
          <p:cNvPr id="3" name="Text Placeholder 2">
            <a:extLst>
              <a:ext uri="{FF2B5EF4-FFF2-40B4-BE49-F238E27FC236}">
                <a16:creationId xmlns:a16="http://schemas.microsoft.com/office/drawing/2014/main" id="{6B9D71F0-8B82-205B-FBD4-21072A57A1B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68987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36930-E61C-054D-56C3-9E3E0A45A0C7}"/>
              </a:ext>
            </a:extLst>
          </p:cNvPr>
          <p:cNvSpPr>
            <a:spLocks noGrp="1"/>
          </p:cNvSpPr>
          <p:nvPr>
            <p:ph type="title"/>
          </p:nvPr>
        </p:nvSpPr>
        <p:spPr/>
        <p:txBody>
          <a:bodyPr/>
          <a:lstStyle/>
          <a:p>
            <a:r>
              <a:rPr lang="en-US" dirty="0"/>
              <a:t>Model Evaluation</a:t>
            </a:r>
          </a:p>
        </p:txBody>
      </p:sp>
      <p:pic>
        <p:nvPicPr>
          <p:cNvPr id="4" name="Content Placeholder 3">
            <a:extLst>
              <a:ext uri="{FF2B5EF4-FFF2-40B4-BE49-F238E27FC236}">
                <a16:creationId xmlns:a16="http://schemas.microsoft.com/office/drawing/2014/main" id="{52187A2D-B3EF-1295-F79E-897A90E08254}"/>
              </a:ext>
            </a:extLst>
          </p:cNvPr>
          <p:cNvPicPr>
            <a:picLocks noGrp="1" noChangeAspect="1"/>
          </p:cNvPicPr>
          <p:nvPr>
            <p:ph idx="1"/>
          </p:nvPr>
        </p:nvPicPr>
        <p:blipFill>
          <a:blip r:embed="rId2"/>
          <a:stretch>
            <a:fillRect/>
          </a:stretch>
        </p:blipFill>
        <p:spPr>
          <a:xfrm>
            <a:off x="838200" y="3055940"/>
            <a:ext cx="10515600" cy="1890707"/>
          </a:xfrm>
          <a:prstGeom prst="rect">
            <a:avLst/>
          </a:prstGeom>
        </p:spPr>
      </p:pic>
    </p:spTree>
    <p:extLst>
      <p:ext uri="{BB962C8B-B14F-4D97-AF65-F5344CB8AC3E}">
        <p14:creationId xmlns:p14="http://schemas.microsoft.com/office/powerpoint/2010/main" val="2744923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868281-61EE-0710-07E9-35EC45FD42C1}"/>
              </a:ext>
            </a:extLst>
          </p:cNvPr>
          <p:cNvSpPr>
            <a:spLocks noGrp="1"/>
          </p:cNvSpPr>
          <p:nvPr>
            <p:ph type="title"/>
          </p:nvPr>
        </p:nvSpPr>
        <p:spPr>
          <a:xfrm>
            <a:off x="630936" y="639520"/>
            <a:ext cx="3429000" cy="1719072"/>
          </a:xfrm>
        </p:spPr>
        <p:txBody>
          <a:bodyPr anchor="b">
            <a:normAutofit/>
          </a:bodyPr>
          <a:lstStyle/>
          <a:p>
            <a:r>
              <a:rPr lang="en-US" sz="3800"/>
              <a:t>Most Important Features</a:t>
            </a:r>
          </a:p>
        </p:txBody>
      </p:sp>
      <p:sp>
        <p:nvSpPr>
          <p:cNvPr id="13"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02617C02-693C-19FB-DF18-C6E0639B003D}"/>
              </a:ext>
            </a:extLst>
          </p:cNvPr>
          <p:cNvSpPr>
            <a:spLocks noGrp="1"/>
          </p:cNvSpPr>
          <p:nvPr>
            <p:ph idx="1"/>
          </p:nvPr>
        </p:nvSpPr>
        <p:spPr>
          <a:xfrm>
            <a:off x="630936" y="2807208"/>
            <a:ext cx="3429000" cy="3410712"/>
          </a:xfrm>
        </p:spPr>
        <p:txBody>
          <a:bodyPr anchor="t">
            <a:normAutofit/>
          </a:bodyPr>
          <a:lstStyle/>
          <a:p>
            <a:endParaRPr lang="en-US" sz="2200"/>
          </a:p>
        </p:txBody>
      </p:sp>
      <p:pic>
        <p:nvPicPr>
          <p:cNvPr id="4" name="Content Placeholder 3">
            <a:extLst>
              <a:ext uri="{FF2B5EF4-FFF2-40B4-BE49-F238E27FC236}">
                <a16:creationId xmlns:a16="http://schemas.microsoft.com/office/drawing/2014/main" id="{8F64A1D3-3D5B-8622-2363-07E01A376486}"/>
              </a:ext>
            </a:extLst>
          </p:cNvPr>
          <p:cNvPicPr>
            <a:picLocks noChangeAspect="1"/>
          </p:cNvPicPr>
          <p:nvPr/>
        </p:nvPicPr>
        <p:blipFill>
          <a:blip r:embed="rId2"/>
          <a:stretch>
            <a:fillRect/>
          </a:stretch>
        </p:blipFill>
        <p:spPr>
          <a:xfrm>
            <a:off x="5317236" y="640080"/>
            <a:ext cx="5577840" cy="5577840"/>
          </a:xfrm>
          <a:prstGeom prst="rect">
            <a:avLst/>
          </a:prstGeom>
        </p:spPr>
      </p:pic>
    </p:spTree>
    <p:extLst>
      <p:ext uri="{BB962C8B-B14F-4D97-AF65-F5344CB8AC3E}">
        <p14:creationId xmlns:p14="http://schemas.microsoft.com/office/powerpoint/2010/main" val="3723066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76C7C-C81E-0EB0-A973-66F552CD2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83094-FA89-51BE-7730-71F0A8D03DBB}"/>
              </a:ext>
            </a:extLst>
          </p:cNvPr>
          <p:cNvSpPr>
            <a:spLocks noGrp="1"/>
          </p:cNvSpPr>
          <p:nvPr>
            <p:ph type="title"/>
          </p:nvPr>
        </p:nvSpPr>
        <p:spPr/>
        <p:txBody>
          <a:bodyPr/>
          <a:lstStyle/>
          <a:p>
            <a:r>
              <a:rPr lang="en-US" dirty="0"/>
              <a:t>Update Feb 16th</a:t>
            </a:r>
          </a:p>
        </p:txBody>
      </p:sp>
      <p:sp>
        <p:nvSpPr>
          <p:cNvPr id="3" name="Text Placeholder 2">
            <a:extLst>
              <a:ext uri="{FF2B5EF4-FFF2-40B4-BE49-F238E27FC236}">
                <a16:creationId xmlns:a16="http://schemas.microsoft.com/office/drawing/2014/main" id="{B948ECBE-F463-DD44-81D6-1278AB1FF8A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92299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600D-54B1-69F5-D73D-B5DBD454A706}"/>
              </a:ext>
            </a:extLst>
          </p:cNvPr>
          <p:cNvSpPr>
            <a:spLocks noGrp="1"/>
          </p:cNvSpPr>
          <p:nvPr>
            <p:ph type="title"/>
          </p:nvPr>
        </p:nvSpPr>
        <p:spPr/>
        <p:txBody>
          <a:bodyPr/>
          <a:lstStyle/>
          <a:p>
            <a:r>
              <a:rPr lang="en-US" dirty="0"/>
              <a:t>PCA</a:t>
            </a:r>
          </a:p>
        </p:txBody>
      </p:sp>
      <p:pic>
        <p:nvPicPr>
          <p:cNvPr id="4" name="Content Placeholder 3">
            <a:extLst>
              <a:ext uri="{FF2B5EF4-FFF2-40B4-BE49-F238E27FC236}">
                <a16:creationId xmlns:a16="http://schemas.microsoft.com/office/drawing/2014/main" id="{710D73BF-3286-4430-04A2-9C03A8CCBC63}"/>
              </a:ext>
            </a:extLst>
          </p:cNvPr>
          <p:cNvPicPr>
            <a:picLocks noGrp="1" noChangeAspect="1"/>
          </p:cNvPicPr>
          <p:nvPr>
            <p:ph idx="1"/>
          </p:nvPr>
        </p:nvPicPr>
        <p:blipFill>
          <a:blip r:embed="rId3"/>
          <a:stretch>
            <a:fillRect/>
          </a:stretch>
        </p:blipFill>
        <p:spPr>
          <a:xfrm>
            <a:off x="1684287" y="1506969"/>
            <a:ext cx="8823425" cy="5153583"/>
          </a:xfrm>
          <a:prstGeom prst="rect">
            <a:avLst/>
          </a:prstGeom>
        </p:spPr>
      </p:pic>
    </p:spTree>
    <p:extLst>
      <p:ext uri="{BB962C8B-B14F-4D97-AF65-F5344CB8AC3E}">
        <p14:creationId xmlns:p14="http://schemas.microsoft.com/office/powerpoint/2010/main" val="2233984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4F2F8-A022-9564-774F-613F2A592A7A}"/>
              </a:ext>
            </a:extLst>
          </p:cNvPr>
          <p:cNvSpPr>
            <a:spLocks noGrp="1"/>
          </p:cNvSpPr>
          <p:nvPr>
            <p:ph type="title"/>
          </p:nvPr>
        </p:nvSpPr>
        <p:spPr/>
        <p:txBody>
          <a:bodyPr/>
          <a:lstStyle/>
          <a:p>
            <a:r>
              <a:rPr lang="en-US" dirty="0"/>
              <a:t>Correlation Analysis</a:t>
            </a:r>
          </a:p>
        </p:txBody>
      </p:sp>
      <p:pic>
        <p:nvPicPr>
          <p:cNvPr id="4" name="Content Placeholder 3">
            <a:extLst>
              <a:ext uri="{FF2B5EF4-FFF2-40B4-BE49-F238E27FC236}">
                <a16:creationId xmlns:a16="http://schemas.microsoft.com/office/drawing/2014/main" id="{8C06E2D1-A7D5-8B20-9055-895CC346647E}"/>
              </a:ext>
            </a:extLst>
          </p:cNvPr>
          <p:cNvPicPr>
            <a:picLocks noGrp="1" noChangeAspect="1"/>
          </p:cNvPicPr>
          <p:nvPr>
            <p:ph idx="1"/>
          </p:nvPr>
        </p:nvPicPr>
        <p:blipFill>
          <a:blip r:embed="rId2"/>
          <a:stretch>
            <a:fillRect/>
          </a:stretch>
        </p:blipFill>
        <p:spPr>
          <a:xfrm>
            <a:off x="5556106" y="1677988"/>
            <a:ext cx="5537200" cy="4191000"/>
          </a:xfrm>
          <a:prstGeom prst="rect">
            <a:avLst/>
          </a:prstGeom>
        </p:spPr>
      </p:pic>
      <p:sp>
        <p:nvSpPr>
          <p:cNvPr id="5" name="Text Placeholder 4">
            <a:extLst>
              <a:ext uri="{FF2B5EF4-FFF2-40B4-BE49-F238E27FC236}">
                <a16:creationId xmlns:a16="http://schemas.microsoft.com/office/drawing/2014/main" id="{C567E592-0C67-D462-E238-DFE4FF84A9C0}"/>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Computed pairwise feature correlation</a:t>
            </a:r>
          </a:p>
          <a:p>
            <a:pPr marL="285750" indent="-285750">
              <a:buFont typeface="Arial" panose="020B0604020202020204" pitchFamily="34" charset="0"/>
              <a:buChar char="•"/>
            </a:pPr>
            <a:r>
              <a:rPr lang="en-US" dirty="0"/>
              <a:t>Tested removal of highly correlated features individually</a:t>
            </a:r>
          </a:p>
          <a:p>
            <a:pPr marL="285750" indent="-285750">
              <a:buFont typeface="Arial" panose="020B0604020202020204" pitchFamily="34" charset="0"/>
              <a:buChar char="•"/>
            </a:pPr>
            <a:r>
              <a:rPr lang="en-US" dirty="0"/>
              <a:t>Dropped features with no performance loss (or improvement)</a:t>
            </a:r>
          </a:p>
        </p:txBody>
      </p:sp>
    </p:spTree>
    <p:extLst>
      <p:ext uri="{BB962C8B-B14F-4D97-AF65-F5344CB8AC3E}">
        <p14:creationId xmlns:p14="http://schemas.microsoft.com/office/powerpoint/2010/main" val="2271154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5B3D-DEE5-FFDD-980D-99BBF12D17C2}"/>
              </a:ext>
            </a:extLst>
          </p:cNvPr>
          <p:cNvSpPr>
            <a:spLocks noGrp="1"/>
          </p:cNvSpPr>
          <p:nvPr>
            <p:ph type="title"/>
          </p:nvPr>
        </p:nvSpPr>
        <p:spPr/>
        <p:txBody>
          <a:bodyPr/>
          <a:lstStyle/>
          <a:p>
            <a:r>
              <a:rPr lang="en-US" dirty="0"/>
              <a:t>Top Loadings in Top PCs</a:t>
            </a:r>
          </a:p>
        </p:txBody>
      </p:sp>
      <p:sp>
        <p:nvSpPr>
          <p:cNvPr id="4" name="Rectangle 1">
            <a:extLst>
              <a:ext uri="{FF2B5EF4-FFF2-40B4-BE49-F238E27FC236}">
                <a16:creationId xmlns:a16="http://schemas.microsoft.com/office/drawing/2014/main" id="{E3DFF8AC-64B7-B2DF-3ADB-7376E6EA22BA}"/>
              </a:ext>
            </a:extLst>
          </p:cNvPr>
          <p:cNvSpPr>
            <a:spLocks noGrp="1" noChangeArrowheads="1"/>
          </p:cNvSpPr>
          <p:nvPr>
            <p:ph idx="1"/>
          </p:nvPr>
        </p:nvSpPr>
        <p:spPr bwMode="auto">
          <a:xfrm>
            <a:off x="838200" y="1631414"/>
            <a:ext cx="9166412" cy="4739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pPr>
            <a:r>
              <a:rPr kumimoji="0" lang="en-MX" altLang="en-MX" sz="1800" b="1" i="0" u="none" strike="noStrike" cap="none" normalizeH="0" baseline="0" dirty="0">
                <a:ln>
                  <a:noFill/>
                </a:ln>
                <a:effectLst/>
                <a:latin typeface="Arial" panose="020B0604020202020204" pitchFamily="34" charset="0"/>
              </a:rPr>
              <a:t>PC1 — Vulnerability and institutional capacity to act</a:t>
            </a:r>
            <a:endParaRPr kumimoji="0" lang="en-MX" altLang="en-MX" sz="1800" b="0" i="0" u="none" strike="noStrike" cap="none" normalizeH="0" baseline="0" dirty="0">
              <a:ln>
                <a:noFill/>
              </a:ln>
              <a:effectLst/>
              <a:latin typeface="Arial" panose="020B0604020202020204" pitchFamily="34" charset="0"/>
            </a:endParaRPr>
          </a:p>
          <a:p>
            <a:pPr lvl="1">
              <a:lnSpc>
                <a:spcPct val="100000"/>
              </a:lnSpc>
            </a:pPr>
            <a:r>
              <a:rPr kumimoji="0" lang="en-MX" altLang="en-MX" sz="1400" b="0" i="0" u="none" strike="noStrike" cap="none" normalizeH="0" baseline="0" dirty="0">
                <a:ln>
                  <a:noFill/>
                </a:ln>
                <a:effectLst/>
                <a:latin typeface="Arial" panose="020B0604020202020204" pitchFamily="34" charset="0"/>
              </a:rPr>
              <a:t>ND-GAIN score</a:t>
            </a:r>
          </a:p>
          <a:p>
            <a:pPr lvl="1">
              <a:lnSpc>
                <a:spcPct val="100000"/>
              </a:lnSpc>
            </a:pPr>
            <a:r>
              <a:rPr kumimoji="0" lang="en-MX" altLang="en-MX" sz="1400" b="0" i="0" u="none" strike="noStrike" cap="none" normalizeH="0" baseline="0" dirty="0">
                <a:ln>
                  <a:noFill/>
                </a:ln>
                <a:effectLst/>
                <a:latin typeface="Arial" panose="020B0604020202020204" pitchFamily="34" charset="0"/>
              </a:rPr>
              <a:t>Government effectiveness</a:t>
            </a:r>
          </a:p>
          <a:p>
            <a:pPr>
              <a:lnSpc>
                <a:spcPct val="100000"/>
              </a:lnSpc>
            </a:pPr>
            <a:r>
              <a:rPr kumimoji="0" lang="en-MX" altLang="en-MX" sz="1800" b="1" i="0" u="none" strike="noStrike" cap="none" normalizeH="0" baseline="0" dirty="0">
                <a:ln>
                  <a:noFill/>
                </a:ln>
                <a:effectLst/>
                <a:latin typeface="Arial" panose="020B0604020202020204" pitchFamily="34" charset="0"/>
              </a:rPr>
              <a:t>PC2 — Fossil-fuel electricity generation</a:t>
            </a:r>
            <a:endParaRPr kumimoji="0" lang="en-MX" altLang="en-MX" sz="1800" b="0" i="0" u="none" strike="noStrike" cap="none" normalizeH="0" baseline="0" dirty="0">
              <a:ln>
                <a:noFill/>
              </a:ln>
              <a:effectLst/>
              <a:latin typeface="Arial" panose="020B0604020202020204" pitchFamily="34" charset="0"/>
            </a:endParaRPr>
          </a:p>
          <a:p>
            <a:pPr lvl="1">
              <a:lnSpc>
                <a:spcPct val="100000"/>
              </a:lnSpc>
            </a:pPr>
            <a:r>
              <a:rPr kumimoji="0" lang="en-MX" altLang="en-MX" sz="1400" b="0" i="0" u="none" strike="noStrike" cap="none" normalizeH="0" baseline="0" dirty="0">
                <a:ln>
                  <a:noFill/>
                </a:ln>
                <a:effectLst/>
                <a:latin typeface="Arial" panose="020B0604020202020204" pitchFamily="34" charset="0"/>
              </a:rPr>
              <a:t>Gas generation share</a:t>
            </a:r>
          </a:p>
          <a:p>
            <a:pPr lvl="1">
              <a:lnSpc>
                <a:spcPct val="100000"/>
              </a:lnSpc>
            </a:pPr>
            <a:r>
              <a:rPr kumimoji="0" lang="en-MX" altLang="en-MX" sz="1400" b="0" i="0" u="none" strike="noStrike" cap="none" normalizeH="0" baseline="0" dirty="0">
                <a:ln>
                  <a:noFill/>
                </a:ln>
                <a:effectLst/>
                <a:latin typeface="Arial" panose="020B0604020202020204" pitchFamily="34" charset="0"/>
              </a:rPr>
              <a:t>Coal generation share</a:t>
            </a:r>
          </a:p>
          <a:p>
            <a:pPr>
              <a:lnSpc>
                <a:spcPct val="100000"/>
              </a:lnSpc>
            </a:pPr>
            <a:r>
              <a:rPr kumimoji="0" lang="en-MX" altLang="en-MX" sz="1800" b="1" i="0" u="none" strike="noStrike" cap="none" normalizeH="0" baseline="0" dirty="0">
                <a:ln>
                  <a:noFill/>
                </a:ln>
                <a:effectLst/>
                <a:latin typeface="Arial" panose="020B0604020202020204" pitchFamily="34" charset="0"/>
              </a:rPr>
              <a:t>PC3 — Renewable vs. fossil electricity mix</a:t>
            </a:r>
            <a:endParaRPr kumimoji="0" lang="en-MX" altLang="en-MX" sz="1800" b="0" i="0" u="none" strike="noStrike" cap="none" normalizeH="0" baseline="0" dirty="0">
              <a:ln>
                <a:noFill/>
              </a:ln>
              <a:effectLst/>
              <a:latin typeface="Arial" panose="020B0604020202020204" pitchFamily="34" charset="0"/>
            </a:endParaRPr>
          </a:p>
          <a:p>
            <a:pPr lvl="1">
              <a:lnSpc>
                <a:spcPct val="100000"/>
              </a:lnSpc>
            </a:pPr>
            <a:r>
              <a:rPr kumimoji="0" lang="en-MX" altLang="en-MX" sz="1400" b="0" i="0" u="none" strike="noStrike" cap="none" normalizeH="0" baseline="0" dirty="0">
                <a:ln>
                  <a:noFill/>
                </a:ln>
                <a:effectLst/>
                <a:latin typeface="Arial" panose="020B0604020202020204" pitchFamily="34" charset="0"/>
              </a:rPr>
              <a:t>Renewable generation share</a:t>
            </a:r>
          </a:p>
          <a:p>
            <a:pPr lvl="1">
              <a:lnSpc>
                <a:spcPct val="100000"/>
              </a:lnSpc>
            </a:pPr>
            <a:r>
              <a:rPr kumimoji="0" lang="en-MX" altLang="en-MX" sz="1400" b="0" i="0" u="none" strike="noStrike" cap="none" normalizeH="0" baseline="0" dirty="0">
                <a:ln>
                  <a:noFill/>
                </a:ln>
                <a:effectLst/>
                <a:latin typeface="Arial" panose="020B0604020202020204" pitchFamily="34" charset="0"/>
              </a:rPr>
              <a:t>Fossil-fuel generation share</a:t>
            </a:r>
          </a:p>
          <a:p>
            <a:pPr>
              <a:lnSpc>
                <a:spcPct val="100000"/>
              </a:lnSpc>
            </a:pPr>
            <a:r>
              <a:rPr kumimoji="0" lang="en-MX" altLang="en-MX" sz="1800" b="1" i="0" u="none" strike="noStrike" cap="none" normalizeH="0" baseline="0" dirty="0">
                <a:ln>
                  <a:noFill/>
                </a:ln>
                <a:effectLst/>
                <a:latin typeface="Arial" panose="020B0604020202020204" pitchFamily="34" charset="0"/>
              </a:rPr>
              <a:t>PC4 — Climate policy adoption</a:t>
            </a:r>
            <a:endParaRPr kumimoji="0" lang="en-MX" altLang="en-MX" sz="1800" b="0" i="0" u="none" strike="noStrike" cap="none" normalizeH="0" baseline="0" dirty="0">
              <a:ln>
                <a:noFill/>
              </a:ln>
              <a:effectLst/>
              <a:latin typeface="Arial" panose="020B0604020202020204" pitchFamily="34" charset="0"/>
            </a:endParaRPr>
          </a:p>
          <a:p>
            <a:pPr lvl="1">
              <a:lnSpc>
                <a:spcPct val="100000"/>
              </a:lnSpc>
            </a:pPr>
            <a:r>
              <a:rPr kumimoji="0" lang="en-MX" altLang="en-MX" sz="1400" b="0" i="0" u="none" strike="noStrike" cap="none" normalizeH="0" baseline="0" dirty="0">
                <a:ln>
                  <a:noFill/>
                </a:ln>
                <a:effectLst/>
                <a:latin typeface="Arial" panose="020B0604020202020204" pitchFamily="34" charset="0"/>
              </a:rPr>
              <a:t>Cumulative number of climate laws</a:t>
            </a:r>
          </a:p>
          <a:p>
            <a:pPr lvl="1">
              <a:lnSpc>
                <a:spcPct val="100000"/>
              </a:lnSpc>
            </a:pPr>
            <a:r>
              <a:rPr kumimoji="0" lang="en-MX" altLang="en-MX" sz="1400" b="0" i="0" u="none" strike="noStrike" cap="none" normalizeH="0" baseline="0" dirty="0">
                <a:ln>
                  <a:noFill/>
                </a:ln>
                <a:effectLst/>
                <a:latin typeface="Arial" panose="020B0604020202020204" pitchFamily="34" charset="0"/>
              </a:rPr>
              <a:t>Presence of climate framework law</a:t>
            </a:r>
          </a:p>
          <a:p>
            <a:pPr>
              <a:lnSpc>
                <a:spcPct val="100000"/>
              </a:lnSpc>
            </a:pPr>
            <a:r>
              <a:rPr kumimoji="0" lang="en-MX" altLang="en-MX" sz="1800" b="1" i="0" u="none" strike="noStrike" cap="none" normalizeH="0" baseline="0" dirty="0">
                <a:ln>
                  <a:noFill/>
                </a:ln>
                <a:effectLst/>
                <a:latin typeface="Arial" panose="020B0604020202020204" pitchFamily="34" charset="0"/>
              </a:rPr>
              <a:t>PC5 — Land use</a:t>
            </a:r>
            <a:endParaRPr kumimoji="0" lang="en-MX" altLang="en-MX" sz="1800" b="0" i="0" u="none" strike="noStrike" cap="none" normalizeH="0" baseline="0" dirty="0">
              <a:ln>
                <a:noFill/>
              </a:ln>
              <a:effectLst/>
              <a:latin typeface="Arial" panose="020B0604020202020204" pitchFamily="34" charset="0"/>
            </a:endParaRPr>
          </a:p>
          <a:p>
            <a:pPr lvl="1">
              <a:lnSpc>
                <a:spcPct val="100000"/>
              </a:lnSpc>
            </a:pPr>
            <a:r>
              <a:rPr kumimoji="0" lang="en-MX" altLang="en-MX" sz="1400" b="0" i="0" u="none" strike="noStrike" cap="none" normalizeH="0" baseline="0" dirty="0">
                <a:ln>
                  <a:noFill/>
                </a:ln>
                <a:effectLst/>
                <a:latin typeface="Arial" panose="020B0604020202020204" pitchFamily="34" charset="0"/>
              </a:rPr>
              <a:t>Agricultural land share of total area</a:t>
            </a:r>
          </a:p>
          <a:p>
            <a:pPr lvl="1">
              <a:lnSpc>
                <a:spcPct val="100000"/>
              </a:lnSpc>
            </a:pPr>
            <a:r>
              <a:rPr kumimoji="0" lang="en-MX" altLang="en-MX" sz="1400" b="0" i="0" u="none" strike="noStrike" cap="none" normalizeH="0" baseline="0" dirty="0">
                <a:ln>
                  <a:noFill/>
                </a:ln>
                <a:effectLst/>
                <a:latin typeface="Arial" panose="020B0604020202020204" pitchFamily="34" charset="0"/>
              </a:rPr>
              <a:t>Forest area share of total area</a:t>
            </a:r>
          </a:p>
          <a:p>
            <a:pPr>
              <a:lnSpc>
                <a:spcPct val="100000"/>
              </a:lnSpc>
            </a:pPr>
            <a:r>
              <a:rPr kumimoji="0" lang="en-MX" altLang="en-MX" sz="1800" b="1" i="0" u="none" strike="noStrike" cap="none" normalizeH="0" baseline="0" dirty="0">
                <a:ln>
                  <a:noFill/>
                </a:ln>
                <a:effectLst/>
                <a:latin typeface="Arial" panose="020B0604020202020204" pitchFamily="34" charset="0"/>
              </a:rPr>
              <a:t>PC6 — Carbon pricing policy</a:t>
            </a:r>
            <a:endParaRPr kumimoji="0" lang="en-MX" altLang="en-MX" sz="1800" b="0" i="0" u="none" strike="noStrike" cap="none" normalizeH="0" baseline="0" dirty="0">
              <a:ln>
                <a:noFill/>
              </a:ln>
              <a:effectLst/>
              <a:latin typeface="Arial" panose="020B0604020202020204" pitchFamily="34" charset="0"/>
            </a:endParaRPr>
          </a:p>
          <a:p>
            <a:pPr lvl="1">
              <a:lnSpc>
                <a:spcPct val="100000"/>
              </a:lnSpc>
            </a:pPr>
            <a:r>
              <a:rPr kumimoji="0" lang="en-MX" altLang="en-MX" sz="1400" b="0" i="0" u="none" strike="noStrike" cap="none" normalizeH="0" baseline="0" dirty="0">
                <a:ln>
                  <a:noFill/>
                </a:ln>
                <a:effectLst/>
                <a:latin typeface="Arial" panose="020B0604020202020204" pitchFamily="34" charset="0"/>
              </a:rPr>
              <a:t>Carbon pricing coverage</a:t>
            </a:r>
          </a:p>
          <a:p>
            <a:pPr lvl="1">
              <a:lnSpc>
                <a:spcPct val="100000"/>
              </a:lnSpc>
            </a:pPr>
            <a:r>
              <a:rPr kumimoji="0" lang="en-MX" altLang="en-MX" sz="1400" b="0" i="0" u="none" strike="noStrike" cap="none" normalizeH="0" baseline="0" dirty="0">
                <a:ln>
                  <a:noFill/>
                </a:ln>
                <a:effectLst/>
                <a:latin typeface="Arial" panose="020B0604020202020204" pitchFamily="34" charset="0"/>
              </a:rPr>
              <a:t>Presence of 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MX" altLang="en-MX"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440547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5615E-16DC-6F87-76E0-F11B12BCA83F}"/>
              </a:ext>
            </a:extLst>
          </p:cNvPr>
          <p:cNvSpPr>
            <a:spLocks noGrp="1"/>
          </p:cNvSpPr>
          <p:nvPr>
            <p:ph type="title"/>
          </p:nvPr>
        </p:nvSpPr>
        <p:spPr/>
        <p:txBody>
          <a:bodyPr/>
          <a:lstStyle/>
          <a:p>
            <a:r>
              <a:rPr lang="en-US" dirty="0"/>
              <a:t>Train-test Metrics with Cleaner Feature Set</a:t>
            </a:r>
          </a:p>
        </p:txBody>
      </p:sp>
      <p:pic>
        <p:nvPicPr>
          <p:cNvPr id="4" name="Content Placeholder 3">
            <a:extLst>
              <a:ext uri="{FF2B5EF4-FFF2-40B4-BE49-F238E27FC236}">
                <a16:creationId xmlns:a16="http://schemas.microsoft.com/office/drawing/2014/main" id="{A3F1E076-4069-F978-D11A-BF111639DAA4}"/>
              </a:ext>
            </a:extLst>
          </p:cNvPr>
          <p:cNvPicPr>
            <a:picLocks noGrp="1" noChangeAspect="1"/>
          </p:cNvPicPr>
          <p:nvPr>
            <p:ph idx="1"/>
          </p:nvPr>
        </p:nvPicPr>
        <p:blipFill>
          <a:blip r:embed="rId2"/>
          <a:stretch>
            <a:fillRect/>
          </a:stretch>
        </p:blipFill>
        <p:spPr>
          <a:xfrm>
            <a:off x="838200" y="3088401"/>
            <a:ext cx="10515600" cy="1825785"/>
          </a:xfrm>
          <a:prstGeom prst="rect">
            <a:avLst/>
          </a:prstGeom>
        </p:spPr>
      </p:pic>
    </p:spTree>
    <p:extLst>
      <p:ext uri="{BB962C8B-B14F-4D97-AF65-F5344CB8AC3E}">
        <p14:creationId xmlns:p14="http://schemas.microsoft.com/office/powerpoint/2010/main" val="2695976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39538-854B-D575-DF99-076C8E9A5CEE}"/>
              </a:ext>
            </a:extLst>
          </p:cNvPr>
          <p:cNvSpPr>
            <a:spLocks noGrp="1"/>
          </p:cNvSpPr>
          <p:nvPr>
            <p:ph type="title"/>
          </p:nvPr>
        </p:nvSpPr>
        <p:spPr/>
        <p:txBody>
          <a:bodyPr/>
          <a:lstStyle/>
          <a:p>
            <a:r>
              <a:rPr lang="en-US" dirty="0"/>
              <a:t>Most Important Features</a:t>
            </a:r>
          </a:p>
        </p:txBody>
      </p:sp>
      <p:pic>
        <p:nvPicPr>
          <p:cNvPr id="21" name="Content Placeholder 20">
            <a:extLst>
              <a:ext uri="{FF2B5EF4-FFF2-40B4-BE49-F238E27FC236}">
                <a16:creationId xmlns:a16="http://schemas.microsoft.com/office/drawing/2014/main" id="{379C6459-76C1-EF31-6F51-72B105D0816F}"/>
              </a:ext>
            </a:extLst>
          </p:cNvPr>
          <p:cNvPicPr>
            <a:picLocks noGrp="1" noChangeAspect="1"/>
          </p:cNvPicPr>
          <p:nvPr>
            <p:ph idx="1"/>
          </p:nvPr>
        </p:nvPicPr>
        <p:blipFill>
          <a:blip r:embed="rId2"/>
          <a:stretch>
            <a:fillRect/>
          </a:stretch>
        </p:blipFill>
        <p:spPr>
          <a:xfrm>
            <a:off x="5259573" y="457200"/>
            <a:ext cx="6092639" cy="6092639"/>
          </a:xfrm>
          <a:prstGeom prst="rect">
            <a:avLst/>
          </a:prstGeom>
        </p:spPr>
      </p:pic>
      <p:sp>
        <p:nvSpPr>
          <p:cNvPr id="20" name="Text Placeholder 19">
            <a:extLst>
              <a:ext uri="{FF2B5EF4-FFF2-40B4-BE49-F238E27FC236}">
                <a16:creationId xmlns:a16="http://schemas.microsoft.com/office/drawing/2014/main" id="{324D3443-D685-4E03-A761-E6642B63759E}"/>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Top regression features may differ from the highest PC loadings, but they support the same narrative</a:t>
            </a:r>
          </a:p>
          <a:p>
            <a:pPr marL="285750" indent="-285750">
              <a:buFont typeface="Arial" panose="020B0604020202020204" pitchFamily="34" charset="0"/>
              <a:buChar char="•"/>
            </a:pPr>
            <a:r>
              <a:rPr lang="en-US" dirty="0"/>
              <a:t>This narrative centers on institutional capacity, vulnerability, and electricity generation</a:t>
            </a:r>
          </a:p>
        </p:txBody>
      </p:sp>
    </p:spTree>
    <p:extLst>
      <p:ext uri="{BB962C8B-B14F-4D97-AF65-F5344CB8AC3E}">
        <p14:creationId xmlns:p14="http://schemas.microsoft.com/office/powerpoint/2010/main" val="1827224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79100-A6BA-3303-D8F3-5C0747427BFC}"/>
              </a:ext>
            </a:extLst>
          </p:cNvPr>
          <p:cNvSpPr>
            <a:spLocks noGrp="1"/>
          </p:cNvSpPr>
          <p:nvPr>
            <p:ph type="title"/>
          </p:nvPr>
        </p:nvSpPr>
        <p:spPr/>
        <p:txBody>
          <a:bodyPr/>
          <a:lstStyle/>
          <a:p>
            <a:r>
              <a:rPr lang="en-US" dirty="0"/>
              <a:t>Update Feb 23rd</a:t>
            </a:r>
          </a:p>
        </p:txBody>
      </p:sp>
      <p:sp>
        <p:nvSpPr>
          <p:cNvPr id="3" name="Text Placeholder 2">
            <a:extLst>
              <a:ext uri="{FF2B5EF4-FFF2-40B4-BE49-F238E27FC236}">
                <a16:creationId xmlns:a16="http://schemas.microsoft.com/office/drawing/2014/main" id="{8D03E27C-FEFA-943D-9F18-43099CFCB17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68347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2CF4C-7674-8F33-7981-CE6C0DC7494A}"/>
              </a:ext>
            </a:extLst>
          </p:cNvPr>
          <p:cNvSpPr>
            <a:spLocks noGrp="1"/>
          </p:cNvSpPr>
          <p:nvPr>
            <p:ph type="title"/>
          </p:nvPr>
        </p:nvSpPr>
        <p:spPr/>
        <p:txBody>
          <a:bodyPr/>
          <a:lstStyle/>
          <a:p>
            <a:r>
              <a:rPr lang="en-US" dirty="0"/>
              <a:t>Reminder of the Top Loading Features per PC</a:t>
            </a:r>
          </a:p>
        </p:txBody>
      </p:sp>
      <p:pic>
        <p:nvPicPr>
          <p:cNvPr id="6" name="Content Placeholder 5">
            <a:extLst>
              <a:ext uri="{FF2B5EF4-FFF2-40B4-BE49-F238E27FC236}">
                <a16:creationId xmlns:a16="http://schemas.microsoft.com/office/drawing/2014/main" id="{070A67AF-7EAB-2682-8124-0F06D9C99D5D}"/>
              </a:ext>
            </a:extLst>
          </p:cNvPr>
          <p:cNvPicPr>
            <a:picLocks noGrp="1" noChangeAspect="1"/>
          </p:cNvPicPr>
          <p:nvPr>
            <p:ph idx="1"/>
          </p:nvPr>
        </p:nvPicPr>
        <p:blipFill>
          <a:blip r:embed="rId2"/>
          <a:stretch>
            <a:fillRect/>
          </a:stretch>
        </p:blipFill>
        <p:spPr>
          <a:xfrm>
            <a:off x="5765514" y="987425"/>
            <a:ext cx="5007547" cy="4873625"/>
          </a:xfrm>
          <a:prstGeom prst="rect">
            <a:avLst/>
          </a:prstGeom>
        </p:spPr>
      </p:pic>
      <p:sp>
        <p:nvSpPr>
          <p:cNvPr id="5" name="Text Placeholder 4">
            <a:extLst>
              <a:ext uri="{FF2B5EF4-FFF2-40B4-BE49-F238E27FC236}">
                <a16:creationId xmlns:a16="http://schemas.microsoft.com/office/drawing/2014/main" id="{BAD9692A-1B9D-176F-9DD3-3D27816EA45A}"/>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Features are tied to institutional capacity, policy, vulnerabilities, and how electricity is generated</a:t>
            </a:r>
          </a:p>
          <a:p>
            <a:pPr marL="285750" indent="-285750">
              <a:buFont typeface="Arial" panose="020B0604020202020204" pitchFamily="34" charset="0"/>
              <a:buChar char="•"/>
            </a:pPr>
            <a:r>
              <a:rPr lang="en-US" dirty="0"/>
              <a:t>Agricultural land and forest areas are also included.</a:t>
            </a:r>
          </a:p>
        </p:txBody>
      </p:sp>
    </p:spTree>
    <p:extLst>
      <p:ext uri="{BB962C8B-B14F-4D97-AF65-F5344CB8AC3E}">
        <p14:creationId xmlns:p14="http://schemas.microsoft.com/office/powerpoint/2010/main" val="1900594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5C365-AD37-D215-3CF4-8356F94C4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D0F65-5A88-316C-653D-679786018E41}"/>
              </a:ext>
            </a:extLst>
          </p:cNvPr>
          <p:cNvSpPr>
            <a:spLocks noGrp="1"/>
          </p:cNvSpPr>
          <p:nvPr>
            <p:ph type="title"/>
          </p:nvPr>
        </p:nvSpPr>
        <p:spPr/>
        <p:txBody>
          <a:bodyPr/>
          <a:lstStyle/>
          <a:p>
            <a:r>
              <a:rPr lang="en-US" dirty="0"/>
              <a:t>Ablation Experiment</a:t>
            </a:r>
          </a:p>
        </p:txBody>
      </p:sp>
      <p:pic>
        <p:nvPicPr>
          <p:cNvPr id="6" name="Content Placeholder 5">
            <a:extLst>
              <a:ext uri="{FF2B5EF4-FFF2-40B4-BE49-F238E27FC236}">
                <a16:creationId xmlns:a16="http://schemas.microsoft.com/office/drawing/2014/main" id="{31996E05-733A-977B-C625-4AB04843ABC6}"/>
              </a:ext>
            </a:extLst>
          </p:cNvPr>
          <p:cNvPicPr>
            <a:picLocks noGrp="1" noChangeAspect="1"/>
          </p:cNvPicPr>
          <p:nvPr>
            <p:ph idx="1"/>
          </p:nvPr>
        </p:nvPicPr>
        <p:blipFill>
          <a:blip r:embed="rId2"/>
          <a:stretch>
            <a:fillRect/>
          </a:stretch>
        </p:blipFill>
        <p:spPr>
          <a:xfrm>
            <a:off x="5183188" y="1510074"/>
            <a:ext cx="6172200" cy="3828326"/>
          </a:xfrm>
          <a:prstGeom prst="rect">
            <a:avLst/>
          </a:prstGeom>
        </p:spPr>
      </p:pic>
      <p:sp>
        <p:nvSpPr>
          <p:cNvPr id="5" name="Text Placeholder 4">
            <a:extLst>
              <a:ext uri="{FF2B5EF4-FFF2-40B4-BE49-F238E27FC236}">
                <a16:creationId xmlns:a16="http://schemas.microsoft.com/office/drawing/2014/main" id="{E86C8ACC-6513-F0C2-63FB-41E8AF250A37}"/>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We obtained the unique feature names that appeared in the top 5 loadings for each principal component.</a:t>
            </a:r>
          </a:p>
          <a:p>
            <a:pPr marL="285750" indent="-285750">
              <a:buFont typeface="Arial" panose="020B0604020202020204" pitchFamily="34" charset="0"/>
              <a:buChar char="•"/>
            </a:pPr>
            <a:r>
              <a:rPr lang="en-US" dirty="0"/>
              <a:t>The experiment consisted of training and evaluating the model iteratively by removing one feature at a time</a:t>
            </a:r>
          </a:p>
          <a:p>
            <a:pPr marL="285750" indent="-285750">
              <a:buFont typeface="Arial" panose="020B0604020202020204" pitchFamily="34" charset="0"/>
              <a:buChar char="•"/>
            </a:pPr>
            <a:r>
              <a:rPr lang="en-US" dirty="0"/>
              <a:t>The features with the lowest loading and from the last principal components are removed first</a:t>
            </a:r>
          </a:p>
        </p:txBody>
      </p:sp>
    </p:spTree>
    <p:extLst>
      <p:ext uri="{BB962C8B-B14F-4D97-AF65-F5344CB8AC3E}">
        <p14:creationId xmlns:p14="http://schemas.microsoft.com/office/powerpoint/2010/main" val="4220539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ACC1F-501E-AA3D-4B0E-2F51DF0446BB}"/>
              </a:ext>
            </a:extLst>
          </p:cNvPr>
          <p:cNvSpPr>
            <a:spLocks noGrp="1"/>
          </p:cNvSpPr>
          <p:nvPr>
            <p:ph type="title"/>
          </p:nvPr>
        </p:nvSpPr>
        <p:spPr/>
        <p:txBody>
          <a:bodyPr/>
          <a:lstStyle/>
          <a:p>
            <a:r>
              <a:rPr lang="en-US" dirty="0"/>
              <a:t>Ablation Experiment Results</a:t>
            </a:r>
          </a:p>
        </p:txBody>
      </p:sp>
      <p:pic>
        <p:nvPicPr>
          <p:cNvPr id="4" name="Content Placeholder 3">
            <a:extLst>
              <a:ext uri="{FF2B5EF4-FFF2-40B4-BE49-F238E27FC236}">
                <a16:creationId xmlns:a16="http://schemas.microsoft.com/office/drawing/2014/main" id="{C19A1FFD-4C7E-8517-2411-B7CA08E6D2AD}"/>
              </a:ext>
            </a:extLst>
          </p:cNvPr>
          <p:cNvPicPr>
            <a:picLocks noGrp="1" noChangeAspect="1"/>
          </p:cNvPicPr>
          <p:nvPr>
            <p:ph idx="1"/>
          </p:nvPr>
        </p:nvPicPr>
        <p:blipFill>
          <a:blip r:embed="rId2"/>
          <a:stretch>
            <a:fillRect/>
          </a:stretch>
        </p:blipFill>
        <p:spPr>
          <a:xfrm>
            <a:off x="3340205" y="1466063"/>
            <a:ext cx="4833742" cy="5271968"/>
          </a:xfrm>
          <a:prstGeom prst="rect">
            <a:avLst/>
          </a:prstGeom>
        </p:spPr>
      </p:pic>
    </p:spTree>
    <p:extLst>
      <p:ext uri="{BB962C8B-B14F-4D97-AF65-F5344CB8AC3E}">
        <p14:creationId xmlns:p14="http://schemas.microsoft.com/office/powerpoint/2010/main" val="1631846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DD2E4-886C-8A9D-4923-22976F1B87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5C40C-364B-C38F-163F-1F1D4911A786}"/>
              </a:ext>
            </a:extLst>
          </p:cNvPr>
          <p:cNvSpPr>
            <a:spLocks noGrp="1"/>
          </p:cNvSpPr>
          <p:nvPr>
            <p:ph type="title"/>
          </p:nvPr>
        </p:nvSpPr>
        <p:spPr/>
        <p:txBody>
          <a:bodyPr/>
          <a:lstStyle/>
          <a:p>
            <a:r>
              <a:rPr lang="en-US" dirty="0"/>
              <a:t>Model Training and Evaluation</a:t>
            </a:r>
          </a:p>
        </p:txBody>
      </p:sp>
      <p:pic>
        <p:nvPicPr>
          <p:cNvPr id="6" name="Content Placeholder 5">
            <a:extLst>
              <a:ext uri="{FF2B5EF4-FFF2-40B4-BE49-F238E27FC236}">
                <a16:creationId xmlns:a16="http://schemas.microsoft.com/office/drawing/2014/main" id="{FF997CD1-4AB4-969A-28FD-B572E53DCA0F}"/>
              </a:ext>
            </a:extLst>
          </p:cNvPr>
          <p:cNvPicPr>
            <a:picLocks noGrp="1" noChangeAspect="1"/>
          </p:cNvPicPr>
          <p:nvPr>
            <p:ph idx="1"/>
          </p:nvPr>
        </p:nvPicPr>
        <p:blipFill>
          <a:blip r:embed="rId2"/>
          <a:stretch>
            <a:fillRect/>
          </a:stretch>
        </p:blipFill>
        <p:spPr>
          <a:xfrm>
            <a:off x="6373093" y="995362"/>
            <a:ext cx="4437272" cy="4873625"/>
          </a:xfrm>
          <a:prstGeom prst="rect">
            <a:avLst/>
          </a:prstGeom>
        </p:spPr>
      </p:pic>
      <p:sp>
        <p:nvSpPr>
          <p:cNvPr id="5" name="Text Placeholder 4">
            <a:extLst>
              <a:ext uri="{FF2B5EF4-FFF2-40B4-BE49-F238E27FC236}">
                <a16:creationId xmlns:a16="http://schemas.microsoft.com/office/drawing/2014/main" id="{CF4F2444-067F-82CC-401F-580093D0C909}"/>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We trained the model by removing 7 features from the top loadings set</a:t>
            </a:r>
          </a:p>
          <a:p>
            <a:pPr marL="285750" indent="-285750">
              <a:buFont typeface="Arial" panose="020B0604020202020204" pitchFamily="34" charset="0"/>
              <a:buChar char="•"/>
            </a:pPr>
            <a:r>
              <a:rPr lang="en-US" dirty="0"/>
              <a:t>When evaluating it we get a similar if not better performance than the original model with correlation filtering</a:t>
            </a:r>
          </a:p>
        </p:txBody>
      </p:sp>
      <p:pic>
        <p:nvPicPr>
          <p:cNvPr id="7" name="Picture 6">
            <a:extLst>
              <a:ext uri="{FF2B5EF4-FFF2-40B4-BE49-F238E27FC236}">
                <a16:creationId xmlns:a16="http://schemas.microsoft.com/office/drawing/2014/main" id="{6228BFCB-DF0B-4CA7-A5EE-16E6472B3C70}"/>
              </a:ext>
            </a:extLst>
          </p:cNvPr>
          <p:cNvPicPr>
            <a:picLocks noChangeAspect="1"/>
          </p:cNvPicPr>
          <p:nvPr/>
        </p:nvPicPr>
        <p:blipFill>
          <a:blip r:embed="rId3"/>
          <a:stretch>
            <a:fillRect/>
          </a:stretch>
        </p:blipFill>
        <p:spPr>
          <a:xfrm>
            <a:off x="290316" y="4893482"/>
            <a:ext cx="5649506" cy="1029053"/>
          </a:xfrm>
          <a:prstGeom prst="rect">
            <a:avLst/>
          </a:prstGeom>
        </p:spPr>
      </p:pic>
      <p:pic>
        <p:nvPicPr>
          <p:cNvPr id="8" name="Picture 7">
            <a:extLst>
              <a:ext uri="{FF2B5EF4-FFF2-40B4-BE49-F238E27FC236}">
                <a16:creationId xmlns:a16="http://schemas.microsoft.com/office/drawing/2014/main" id="{76095729-D5FE-3354-1679-68B2181054B1}"/>
              </a:ext>
            </a:extLst>
          </p:cNvPr>
          <p:cNvPicPr>
            <a:picLocks noChangeAspect="1"/>
          </p:cNvPicPr>
          <p:nvPr/>
        </p:nvPicPr>
        <p:blipFill>
          <a:blip r:embed="rId4"/>
          <a:stretch>
            <a:fillRect/>
          </a:stretch>
        </p:blipFill>
        <p:spPr>
          <a:xfrm>
            <a:off x="290316" y="3488051"/>
            <a:ext cx="5649506" cy="950286"/>
          </a:xfrm>
          <a:prstGeom prst="rect">
            <a:avLst/>
          </a:prstGeom>
        </p:spPr>
      </p:pic>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A4BA9A9B-C3C1-0EF1-91BC-1DF472693607}"/>
                  </a:ext>
                </a:extLst>
              </p14:cNvPr>
              <p14:cNvContentPartPr/>
              <p14:nvPr/>
            </p14:nvContentPartPr>
            <p14:xfrm>
              <a:off x="4567046" y="4049905"/>
              <a:ext cx="1275840" cy="29160"/>
            </p14:xfrm>
          </p:contentPart>
        </mc:Choice>
        <mc:Fallback xmlns="">
          <p:pic>
            <p:nvPicPr>
              <p:cNvPr id="9" name="Ink 8">
                <a:extLst>
                  <a:ext uri="{FF2B5EF4-FFF2-40B4-BE49-F238E27FC236}">
                    <a16:creationId xmlns:a16="http://schemas.microsoft.com/office/drawing/2014/main" id="{A4BA9A9B-C3C1-0EF1-91BC-1DF472693607}"/>
                  </a:ext>
                </a:extLst>
              </p:cNvPr>
              <p:cNvPicPr/>
              <p:nvPr/>
            </p:nvPicPr>
            <p:blipFill>
              <a:blip r:embed="rId6"/>
              <a:stretch>
                <a:fillRect/>
              </a:stretch>
            </p:blipFill>
            <p:spPr>
              <a:xfrm>
                <a:off x="4560926" y="4043785"/>
                <a:ext cx="12880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4C955939-FCBA-EC49-5CC5-A087BC224DD0}"/>
                  </a:ext>
                </a:extLst>
              </p14:cNvPr>
              <p14:cNvContentPartPr/>
              <p14:nvPr/>
            </p14:nvContentPartPr>
            <p14:xfrm>
              <a:off x="4565606" y="5496745"/>
              <a:ext cx="1477080" cy="22320"/>
            </p14:xfrm>
          </p:contentPart>
        </mc:Choice>
        <mc:Fallback xmlns="">
          <p:pic>
            <p:nvPicPr>
              <p:cNvPr id="11" name="Ink 10">
                <a:extLst>
                  <a:ext uri="{FF2B5EF4-FFF2-40B4-BE49-F238E27FC236}">
                    <a16:creationId xmlns:a16="http://schemas.microsoft.com/office/drawing/2014/main" id="{4C955939-FCBA-EC49-5CC5-A087BC224DD0}"/>
                  </a:ext>
                </a:extLst>
              </p:cNvPr>
              <p:cNvPicPr/>
              <p:nvPr/>
            </p:nvPicPr>
            <p:blipFill>
              <a:blip r:embed="rId8"/>
              <a:stretch>
                <a:fillRect/>
              </a:stretch>
            </p:blipFill>
            <p:spPr>
              <a:xfrm>
                <a:off x="4559486" y="5490625"/>
                <a:ext cx="1489320" cy="34560"/>
              </a:xfrm>
              <a:prstGeom prst="rect">
                <a:avLst/>
              </a:prstGeom>
            </p:spPr>
          </p:pic>
        </mc:Fallback>
      </mc:AlternateContent>
    </p:spTree>
    <p:extLst>
      <p:ext uri="{BB962C8B-B14F-4D97-AF65-F5344CB8AC3E}">
        <p14:creationId xmlns:p14="http://schemas.microsoft.com/office/powerpoint/2010/main" val="3434693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924E2-88D8-024C-77F8-16B113C0F966}"/>
              </a:ext>
            </a:extLst>
          </p:cNvPr>
          <p:cNvSpPr>
            <a:spLocks noGrp="1"/>
          </p:cNvSpPr>
          <p:nvPr>
            <p:ph type="title"/>
          </p:nvPr>
        </p:nvSpPr>
        <p:spPr/>
        <p:txBody>
          <a:bodyPr/>
          <a:lstStyle/>
          <a:p>
            <a:r>
              <a:rPr lang="en-US" dirty="0"/>
              <a:t>Top Regressors</a:t>
            </a:r>
          </a:p>
        </p:txBody>
      </p:sp>
      <p:pic>
        <p:nvPicPr>
          <p:cNvPr id="6" name="Content Placeholder 5">
            <a:extLst>
              <a:ext uri="{FF2B5EF4-FFF2-40B4-BE49-F238E27FC236}">
                <a16:creationId xmlns:a16="http://schemas.microsoft.com/office/drawing/2014/main" id="{EF2BE5C8-0EDD-575C-E51B-C217CEB4A4C2}"/>
              </a:ext>
            </a:extLst>
          </p:cNvPr>
          <p:cNvPicPr>
            <a:picLocks noGrp="1" noChangeAspect="1"/>
          </p:cNvPicPr>
          <p:nvPr>
            <p:ph idx="1"/>
          </p:nvPr>
        </p:nvPicPr>
        <p:blipFill>
          <a:blip r:embed="rId2"/>
          <a:stretch>
            <a:fillRect/>
          </a:stretch>
        </p:blipFill>
        <p:spPr>
          <a:xfrm>
            <a:off x="5832475" y="987425"/>
            <a:ext cx="4873625" cy="4873625"/>
          </a:xfrm>
          <a:prstGeom prst="rect">
            <a:avLst/>
          </a:prstGeom>
        </p:spPr>
      </p:pic>
      <p:sp>
        <p:nvSpPr>
          <p:cNvPr id="5" name="Text Placeholder 4">
            <a:extLst>
              <a:ext uri="{FF2B5EF4-FFF2-40B4-BE49-F238E27FC236}">
                <a16:creationId xmlns:a16="http://schemas.microsoft.com/office/drawing/2014/main" id="{FF17DCE7-1039-A6B8-9ADF-55085A244A9C}"/>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One key insights it that GDP per capita was filtered out during this process; however it didn’t hurt model performance</a:t>
            </a:r>
          </a:p>
        </p:txBody>
      </p:sp>
    </p:spTree>
    <p:extLst>
      <p:ext uri="{BB962C8B-B14F-4D97-AF65-F5344CB8AC3E}">
        <p14:creationId xmlns:p14="http://schemas.microsoft.com/office/powerpoint/2010/main" val="3155841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88556-73B5-93A3-DA89-DAB98F0E7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C50877-98F1-549E-6EFA-DD91AC91A551}"/>
              </a:ext>
            </a:extLst>
          </p:cNvPr>
          <p:cNvSpPr>
            <a:spLocks noGrp="1"/>
          </p:cNvSpPr>
          <p:nvPr>
            <p:ph type="title"/>
          </p:nvPr>
        </p:nvSpPr>
        <p:spPr/>
        <p:txBody>
          <a:bodyPr/>
          <a:lstStyle/>
          <a:p>
            <a:r>
              <a:rPr lang="en-US" dirty="0"/>
              <a:t>Update March 2nd</a:t>
            </a:r>
          </a:p>
        </p:txBody>
      </p:sp>
      <p:sp>
        <p:nvSpPr>
          <p:cNvPr id="3" name="Text Placeholder 2">
            <a:extLst>
              <a:ext uri="{FF2B5EF4-FFF2-40B4-BE49-F238E27FC236}">
                <a16:creationId xmlns:a16="http://schemas.microsoft.com/office/drawing/2014/main" id="{2217B36E-36CB-0488-EF4D-89A46518316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27908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52C3D-0621-2923-4756-2732679AA010}"/>
              </a:ext>
            </a:extLst>
          </p:cNvPr>
          <p:cNvSpPr>
            <a:spLocks noGrp="1"/>
          </p:cNvSpPr>
          <p:nvPr>
            <p:ph type="title"/>
          </p:nvPr>
        </p:nvSpPr>
        <p:spPr/>
        <p:txBody>
          <a:bodyPr/>
          <a:lstStyle/>
          <a:p>
            <a:r>
              <a:rPr lang="en-US" dirty="0"/>
              <a:t>Projected Predictors</a:t>
            </a:r>
          </a:p>
        </p:txBody>
      </p:sp>
      <p:pic>
        <p:nvPicPr>
          <p:cNvPr id="5" name="Content Placeholder 4">
            <a:extLst>
              <a:ext uri="{FF2B5EF4-FFF2-40B4-BE49-F238E27FC236}">
                <a16:creationId xmlns:a16="http://schemas.microsoft.com/office/drawing/2014/main" id="{06C1DB27-B59F-8813-8C1C-FB7CB4BD24E7}"/>
              </a:ext>
            </a:extLst>
          </p:cNvPr>
          <p:cNvPicPr>
            <a:picLocks noGrp="1" noChangeAspect="1"/>
          </p:cNvPicPr>
          <p:nvPr>
            <p:ph idx="1"/>
          </p:nvPr>
        </p:nvPicPr>
        <p:blipFill>
          <a:blip r:embed="rId2"/>
          <a:stretch>
            <a:fillRect/>
          </a:stretch>
        </p:blipFill>
        <p:spPr>
          <a:xfrm>
            <a:off x="5183188" y="1208462"/>
            <a:ext cx="6172200" cy="4431550"/>
          </a:xfrm>
          <a:prstGeom prst="rect">
            <a:avLst/>
          </a:prstGeom>
        </p:spPr>
      </p:pic>
      <p:sp>
        <p:nvSpPr>
          <p:cNvPr id="4" name="Text Placeholder 3">
            <a:extLst>
              <a:ext uri="{FF2B5EF4-FFF2-40B4-BE49-F238E27FC236}">
                <a16:creationId xmlns:a16="http://schemas.microsoft.com/office/drawing/2014/main" id="{B4B7DEAA-7B0C-F8E9-16D5-6A66ACA20181}"/>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We created the projections using ARIMA</a:t>
            </a:r>
          </a:p>
          <a:p>
            <a:pPr marL="285750" indent="-285750">
              <a:buFont typeface="Arial" panose="020B0604020202020204" pitchFamily="34" charset="0"/>
              <a:buChar char="•"/>
            </a:pPr>
            <a:r>
              <a:rPr lang="en-US" dirty="0"/>
              <a:t>The different type of variables are treated properly to create realistic projections</a:t>
            </a:r>
          </a:p>
        </p:txBody>
      </p:sp>
    </p:spTree>
    <p:extLst>
      <p:ext uri="{BB962C8B-B14F-4D97-AF65-F5344CB8AC3E}">
        <p14:creationId xmlns:p14="http://schemas.microsoft.com/office/powerpoint/2010/main" val="19570233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8E6F7-149B-9DCF-EF81-2A8EF1D4C491}"/>
              </a:ext>
            </a:extLst>
          </p:cNvPr>
          <p:cNvSpPr>
            <a:spLocks noGrp="1"/>
          </p:cNvSpPr>
          <p:nvPr>
            <p:ph type="title"/>
          </p:nvPr>
        </p:nvSpPr>
        <p:spPr/>
        <p:txBody>
          <a:bodyPr/>
          <a:lstStyle/>
          <a:p>
            <a:r>
              <a:rPr lang="en-US" dirty="0"/>
              <a:t>Projected Emissions</a:t>
            </a:r>
          </a:p>
        </p:txBody>
      </p:sp>
      <p:pic>
        <p:nvPicPr>
          <p:cNvPr id="5" name="Content Placeholder 4">
            <a:extLst>
              <a:ext uri="{FF2B5EF4-FFF2-40B4-BE49-F238E27FC236}">
                <a16:creationId xmlns:a16="http://schemas.microsoft.com/office/drawing/2014/main" id="{28762387-AF1C-F834-A3D5-03F9EC9ACC62}"/>
              </a:ext>
            </a:extLst>
          </p:cNvPr>
          <p:cNvPicPr>
            <a:picLocks noGrp="1" noChangeAspect="1"/>
          </p:cNvPicPr>
          <p:nvPr>
            <p:ph idx="1"/>
          </p:nvPr>
        </p:nvPicPr>
        <p:blipFill>
          <a:blip r:embed="rId2"/>
          <a:stretch>
            <a:fillRect/>
          </a:stretch>
        </p:blipFill>
        <p:spPr>
          <a:xfrm>
            <a:off x="5183188" y="1206867"/>
            <a:ext cx="6172200" cy="4434741"/>
          </a:xfrm>
          <a:prstGeom prst="rect">
            <a:avLst/>
          </a:prstGeom>
        </p:spPr>
      </p:pic>
      <p:sp>
        <p:nvSpPr>
          <p:cNvPr id="4" name="Text Placeholder 3">
            <a:extLst>
              <a:ext uri="{FF2B5EF4-FFF2-40B4-BE49-F238E27FC236}">
                <a16:creationId xmlns:a16="http://schemas.microsoft.com/office/drawing/2014/main" id="{326D66F3-8875-5A46-7E41-E78B86A6CE28}"/>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With the trained model we predicted future emissions using the projected features</a:t>
            </a:r>
          </a:p>
          <a:p>
            <a:pPr marL="285750" indent="-285750">
              <a:buFont typeface="Arial" panose="020B0604020202020204" pitchFamily="34" charset="0"/>
              <a:buChar char="•"/>
            </a:pPr>
            <a:r>
              <a:rPr lang="en-US" dirty="0"/>
              <a:t>We use the hp filter to clean the trajectories</a:t>
            </a:r>
          </a:p>
        </p:txBody>
      </p:sp>
    </p:spTree>
    <p:extLst>
      <p:ext uri="{BB962C8B-B14F-4D97-AF65-F5344CB8AC3E}">
        <p14:creationId xmlns:p14="http://schemas.microsoft.com/office/powerpoint/2010/main" val="1081841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2873B-C312-4684-E692-9A1C57AD39AC}"/>
              </a:ext>
            </a:extLst>
          </p:cNvPr>
          <p:cNvSpPr>
            <a:spLocks noGrp="1"/>
          </p:cNvSpPr>
          <p:nvPr>
            <p:ph type="title"/>
          </p:nvPr>
        </p:nvSpPr>
        <p:spPr/>
        <p:txBody>
          <a:bodyPr/>
          <a:lstStyle/>
          <a:p>
            <a:r>
              <a:rPr lang="en-US" dirty="0"/>
              <a:t>The following are preliminary results since we’re missing data for key countries</a:t>
            </a:r>
          </a:p>
        </p:txBody>
      </p:sp>
      <p:pic>
        <p:nvPicPr>
          <p:cNvPr id="4" name="Content Placeholder 3">
            <a:extLst>
              <a:ext uri="{FF2B5EF4-FFF2-40B4-BE49-F238E27FC236}">
                <a16:creationId xmlns:a16="http://schemas.microsoft.com/office/drawing/2014/main" id="{BE1E93A3-AD8A-1470-884D-237FD1A102F6}"/>
              </a:ext>
            </a:extLst>
          </p:cNvPr>
          <p:cNvPicPr>
            <a:picLocks noGrp="1" noChangeAspect="1"/>
          </p:cNvPicPr>
          <p:nvPr>
            <p:ph idx="1"/>
          </p:nvPr>
        </p:nvPicPr>
        <p:blipFill>
          <a:blip r:embed="rId2"/>
          <a:stretch>
            <a:fillRect/>
          </a:stretch>
        </p:blipFill>
        <p:spPr>
          <a:xfrm>
            <a:off x="4989805" y="1825625"/>
            <a:ext cx="2212389" cy="4351338"/>
          </a:xfrm>
          <a:prstGeom prst="rect">
            <a:avLst/>
          </a:prstGeom>
        </p:spPr>
      </p:pic>
    </p:spTree>
    <p:extLst>
      <p:ext uri="{BB962C8B-B14F-4D97-AF65-F5344CB8AC3E}">
        <p14:creationId xmlns:p14="http://schemas.microsoft.com/office/powerpoint/2010/main" val="29407524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090F7-EE2D-C654-1F4B-FBEDBDF9A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601CF-6BE4-C866-E9AF-C8C68B73822A}"/>
              </a:ext>
            </a:extLst>
          </p:cNvPr>
          <p:cNvSpPr>
            <a:spLocks noGrp="1"/>
          </p:cNvSpPr>
          <p:nvPr>
            <p:ph type="title"/>
          </p:nvPr>
        </p:nvSpPr>
        <p:spPr/>
        <p:txBody>
          <a:bodyPr>
            <a:normAutofit fontScale="90000"/>
          </a:bodyPr>
          <a:lstStyle/>
          <a:p>
            <a:r>
              <a:rPr lang="en-US" dirty="0"/>
              <a:t>Also… Some important countries have 0 chance of meeting their targets which means that we might need to adjust the ARIMA projections</a:t>
            </a:r>
          </a:p>
        </p:txBody>
      </p:sp>
      <p:pic>
        <p:nvPicPr>
          <p:cNvPr id="6" name="Content Placeholder 5">
            <a:extLst>
              <a:ext uri="{FF2B5EF4-FFF2-40B4-BE49-F238E27FC236}">
                <a16:creationId xmlns:a16="http://schemas.microsoft.com/office/drawing/2014/main" id="{02BF9E56-5A73-6F21-A565-9CA342F978F2}"/>
              </a:ext>
            </a:extLst>
          </p:cNvPr>
          <p:cNvPicPr>
            <a:picLocks noGrp="1" noChangeAspect="1"/>
          </p:cNvPicPr>
          <p:nvPr>
            <p:ph idx="1"/>
          </p:nvPr>
        </p:nvPicPr>
        <p:blipFill>
          <a:blip r:embed="rId2"/>
          <a:stretch>
            <a:fillRect/>
          </a:stretch>
        </p:blipFill>
        <p:spPr>
          <a:xfrm>
            <a:off x="838200" y="2544411"/>
            <a:ext cx="10515600" cy="2913765"/>
          </a:xfrm>
          <a:prstGeom prst="rect">
            <a:avLst/>
          </a:prstGeom>
        </p:spPr>
      </p:pic>
    </p:spTree>
    <p:extLst>
      <p:ext uri="{BB962C8B-B14F-4D97-AF65-F5344CB8AC3E}">
        <p14:creationId xmlns:p14="http://schemas.microsoft.com/office/powerpoint/2010/main" val="3994820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942FE-1D96-9096-18AF-30064B2022EA}"/>
              </a:ext>
            </a:extLst>
          </p:cNvPr>
          <p:cNvSpPr>
            <a:spLocks noGrp="1"/>
          </p:cNvSpPr>
          <p:nvPr>
            <p:ph type="title"/>
          </p:nvPr>
        </p:nvSpPr>
        <p:spPr/>
        <p:txBody>
          <a:bodyPr/>
          <a:lstStyle/>
          <a:p>
            <a:r>
              <a:rPr lang="en-US" dirty="0"/>
              <a:t>Distribution of the probability of meeting the NDC target</a:t>
            </a:r>
          </a:p>
        </p:txBody>
      </p:sp>
      <p:pic>
        <p:nvPicPr>
          <p:cNvPr id="5" name="Content Placeholder 4">
            <a:extLst>
              <a:ext uri="{FF2B5EF4-FFF2-40B4-BE49-F238E27FC236}">
                <a16:creationId xmlns:a16="http://schemas.microsoft.com/office/drawing/2014/main" id="{5BA24438-48D5-E376-CEF4-7A6707C0B3E6}"/>
              </a:ext>
            </a:extLst>
          </p:cNvPr>
          <p:cNvPicPr>
            <a:picLocks noGrp="1" noChangeAspect="1"/>
          </p:cNvPicPr>
          <p:nvPr>
            <p:ph idx="1"/>
          </p:nvPr>
        </p:nvPicPr>
        <p:blipFill>
          <a:blip r:embed="rId2"/>
          <a:stretch>
            <a:fillRect/>
          </a:stretch>
        </p:blipFill>
        <p:spPr>
          <a:xfrm>
            <a:off x="838200" y="1927945"/>
            <a:ext cx="10515600" cy="4146697"/>
          </a:xfrm>
          <a:prstGeom prst="rect">
            <a:avLst/>
          </a:prstGeom>
        </p:spPr>
      </p:pic>
    </p:spTree>
    <p:extLst>
      <p:ext uri="{BB962C8B-B14F-4D97-AF65-F5344CB8AC3E}">
        <p14:creationId xmlns:p14="http://schemas.microsoft.com/office/powerpoint/2010/main" val="2258832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4029D-DB94-B392-D6E8-7EA8431B82F7}"/>
              </a:ext>
            </a:extLst>
          </p:cNvPr>
          <p:cNvSpPr>
            <a:spLocks noGrp="1"/>
          </p:cNvSpPr>
          <p:nvPr>
            <p:ph type="title"/>
          </p:nvPr>
        </p:nvSpPr>
        <p:spPr/>
        <p:txBody>
          <a:bodyPr/>
          <a:lstStyle/>
          <a:p>
            <a:r>
              <a:rPr lang="en-US" dirty="0"/>
              <a:t>What’s the share of countries that meet certain probability?</a:t>
            </a:r>
          </a:p>
        </p:txBody>
      </p:sp>
      <p:pic>
        <p:nvPicPr>
          <p:cNvPr id="5" name="Content Placeholder 4">
            <a:extLst>
              <a:ext uri="{FF2B5EF4-FFF2-40B4-BE49-F238E27FC236}">
                <a16:creationId xmlns:a16="http://schemas.microsoft.com/office/drawing/2014/main" id="{CBE7D58C-A315-AEB1-5868-1D037F853F16}"/>
              </a:ext>
            </a:extLst>
          </p:cNvPr>
          <p:cNvPicPr>
            <a:picLocks noGrp="1" noChangeAspect="1"/>
          </p:cNvPicPr>
          <p:nvPr>
            <p:ph idx="1"/>
          </p:nvPr>
        </p:nvPicPr>
        <p:blipFill>
          <a:blip r:embed="rId2"/>
          <a:stretch>
            <a:fillRect/>
          </a:stretch>
        </p:blipFill>
        <p:spPr>
          <a:xfrm>
            <a:off x="2804603" y="1825625"/>
            <a:ext cx="6582793" cy="4351338"/>
          </a:xfrm>
          <a:prstGeom prst="rect">
            <a:avLst/>
          </a:prstGeom>
        </p:spPr>
      </p:pic>
    </p:spTree>
    <p:extLst>
      <p:ext uri="{BB962C8B-B14F-4D97-AF65-F5344CB8AC3E}">
        <p14:creationId xmlns:p14="http://schemas.microsoft.com/office/powerpoint/2010/main" val="38013295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72093-C0EE-93E5-DFFA-A166E93B9C9F}"/>
              </a:ext>
            </a:extLst>
          </p:cNvPr>
          <p:cNvSpPr>
            <a:spLocks noGrp="1"/>
          </p:cNvSpPr>
          <p:nvPr>
            <p:ph type="title"/>
          </p:nvPr>
        </p:nvSpPr>
        <p:spPr/>
        <p:txBody>
          <a:bodyPr/>
          <a:lstStyle/>
          <a:p>
            <a:r>
              <a:rPr lang="en-US" dirty="0"/>
              <a:t>Update March 9th</a:t>
            </a:r>
          </a:p>
        </p:txBody>
      </p:sp>
      <p:sp>
        <p:nvSpPr>
          <p:cNvPr id="3" name="Text Placeholder 2">
            <a:extLst>
              <a:ext uri="{FF2B5EF4-FFF2-40B4-BE49-F238E27FC236}">
                <a16:creationId xmlns:a16="http://schemas.microsoft.com/office/drawing/2014/main" id="{255A3F91-5E4D-C5E6-7245-534CECF3411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38790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C1957-B5CB-A43F-A479-C75A19E8A354}"/>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6311DEE5-3B7A-E784-A5CF-533825ACF6CE}"/>
              </a:ext>
            </a:extLst>
          </p:cNvPr>
          <p:cNvPicPr>
            <a:picLocks noGrp="1" noChangeAspect="1"/>
          </p:cNvPicPr>
          <p:nvPr>
            <p:ph idx="1"/>
          </p:nvPr>
        </p:nvPicPr>
        <p:blipFill>
          <a:blip r:embed="rId2"/>
          <a:stretch>
            <a:fillRect/>
          </a:stretch>
        </p:blipFill>
        <p:spPr>
          <a:xfrm>
            <a:off x="838200" y="1927945"/>
            <a:ext cx="10515600" cy="4146697"/>
          </a:xfrm>
          <a:prstGeom prst="rect">
            <a:avLst/>
          </a:prstGeom>
        </p:spPr>
      </p:pic>
    </p:spTree>
    <p:extLst>
      <p:ext uri="{BB962C8B-B14F-4D97-AF65-F5344CB8AC3E}">
        <p14:creationId xmlns:p14="http://schemas.microsoft.com/office/powerpoint/2010/main" val="19477020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35F3-5256-B24D-20B6-3F552AF00561}"/>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466A7E0F-852C-DC14-B8A1-958241874CD9}"/>
              </a:ext>
            </a:extLst>
          </p:cNvPr>
          <p:cNvPicPr>
            <a:picLocks noGrp="1" noChangeAspect="1"/>
          </p:cNvPicPr>
          <p:nvPr>
            <p:ph idx="1"/>
          </p:nvPr>
        </p:nvPicPr>
        <p:blipFill>
          <a:blip r:embed="rId2"/>
          <a:stretch>
            <a:fillRect/>
          </a:stretch>
        </p:blipFill>
        <p:spPr>
          <a:xfrm>
            <a:off x="2804603" y="1825625"/>
            <a:ext cx="6582793" cy="4351338"/>
          </a:xfrm>
          <a:prstGeom prst="rect">
            <a:avLst/>
          </a:prstGeom>
        </p:spPr>
      </p:pic>
    </p:spTree>
    <p:extLst>
      <p:ext uri="{BB962C8B-B14F-4D97-AF65-F5344CB8AC3E}">
        <p14:creationId xmlns:p14="http://schemas.microsoft.com/office/powerpoint/2010/main" val="14659219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F8DAE2-D5C9-A10E-C942-68FDB6C878FB}"/>
              </a:ext>
            </a:extLst>
          </p:cNvPr>
          <p:cNvSpPr>
            <a:spLocks noGrp="1"/>
          </p:cNvSpPr>
          <p:nvPr>
            <p:ph type="title"/>
          </p:nvPr>
        </p:nvSpPr>
        <p:spPr/>
        <p:txBody>
          <a:bodyPr/>
          <a:lstStyle/>
          <a:p>
            <a:r>
              <a:rPr lang="en-US" dirty="0"/>
              <a:t>Let’s Check the Projections</a:t>
            </a:r>
          </a:p>
        </p:txBody>
      </p:sp>
      <p:sp>
        <p:nvSpPr>
          <p:cNvPr id="5" name="Text Placeholder 4">
            <a:extLst>
              <a:ext uri="{FF2B5EF4-FFF2-40B4-BE49-F238E27FC236}">
                <a16:creationId xmlns:a16="http://schemas.microsoft.com/office/drawing/2014/main" id="{29AB6A7B-148E-9E38-F5CA-87B3E8DED32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622245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530AE-B5C3-0D5C-C4BD-A2AF7D035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F15DF-C8A6-49E4-0EA8-33D71AACAE30}"/>
              </a:ext>
            </a:extLst>
          </p:cNvPr>
          <p:cNvSpPr>
            <a:spLocks noGrp="1"/>
          </p:cNvSpPr>
          <p:nvPr>
            <p:ph type="title"/>
          </p:nvPr>
        </p:nvSpPr>
        <p:spPr/>
        <p:txBody>
          <a:bodyPr/>
          <a:lstStyle/>
          <a:p>
            <a:r>
              <a:rPr lang="en-US" dirty="0"/>
              <a:t>Update March 30th</a:t>
            </a:r>
          </a:p>
        </p:txBody>
      </p:sp>
      <p:sp>
        <p:nvSpPr>
          <p:cNvPr id="3" name="Text Placeholder 2">
            <a:extLst>
              <a:ext uri="{FF2B5EF4-FFF2-40B4-BE49-F238E27FC236}">
                <a16:creationId xmlns:a16="http://schemas.microsoft.com/office/drawing/2014/main" id="{42F3EB71-B643-2E29-103B-359797CD8951}"/>
              </a:ext>
            </a:extLst>
          </p:cNvPr>
          <p:cNvSpPr>
            <a:spLocks noGrp="1"/>
          </p:cNvSpPr>
          <p:nvPr>
            <p:ph type="body" idx="1"/>
          </p:nvPr>
        </p:nvSpPr>
        <p:spPr/>
        <p:txBody>
          <a:bodyPr/>
          <a:lstStyle/>
          <a:p>
            <a:r>
              <a:rPr lang="en-US" dirty="0"/>
              <a:t>Scenario Discovery</a:t>
            </a:r>
          </a:p>
        </p:txBody>
      </p:sp>
    </p:spTree>
    <p:extLst>
      <p:ext uri="{BB962C8B-B14F-4D97-AF65-F5344CB8AC3E}">
        <p14:creationId xmlns:p14="http://schemas.microsoft.com/office/powerpoint/2010/main" val="101150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0E9E3-48E5-C883-D05F-7707E102BB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BFF5D-F254-330F-5D37-804BEE7D9368}"/>
              </a:ext>
            </a:extLst>
          </p:cNvPr>
          <p:cNvSpPr>
            <a:spLocks noGrp="1"/>
          </p:cNvSpPr>
          <p:nvPr>
            <p:ph type="title"/>
          </p:nvPr>
        </p:nvSpPr>
        <p:spPr/>
        <p:txBody>
          <a:bodyPr/>
          <a:lstStyle/>
          <a:p>
            <a:r>
              <a:rPr lang="en-US" dirty="0"/>
              <a:t>Compute vulnerability indicator</a:t>
            </a:r>
          </a:p>
        </p:txBody>
      </p:sp>
      <p:sp>
        <p:nvSpPr>
          <p:cNvPr id="3" name="Content Placeholder 2">
            <a:extLst>
              <a:ext uri="{FF2B5EF4-FFF2-40B4-BE49-F238E27FC236}">
                <a16:creationId xmlns:a16="http://schemas.microsoft.com/office/drawing/2014/main" id="{8C9BD357-8A56-92E2-AD8D-8C3BBC41D223}"/>
              </a:ext>
            </a:extLst>
          </p:cNvPr>
          <p:cNvSpPr>
            <a:spLocks noGrp="1"/>
          </p:cNvSpPr>
          <p:nvPr>
            <p:ph idx="1"/>
          </p:nvPr>
        </p:nvSpPr>
        <p:spPr/>
        <p:txBody>
          <a:bodyPr/>
          <a:lstStyle/>
          <a:p>
            <a:r>
              <a:rPr lang="en-US" b="1" dirty="0"/>
              <a:t>Simple threshold:</a:t>
            </a:r>
            <a:r>
              <a:rPr lang="en-US" dirty="0"/>
              <a:t> if value 2030 &gt; 2022 then vulnerable.</a:t>
            </a:r>
          </a:p>
          <a:p>
            <a:r>
              <a:rPr lang="en-US" b="1" dirty="0"/>
              <a:t>Class balance threshold: </a:t>
            </a:r>
            <a:r>
              <a:rPr lang="en-US" dirty="0"/>
              <a:t>find a value that balances the the amount 0s and 1s in the indicators class</a:t>
            </a:r>
          </a:p>
          <a:p>
            <a:r>
              <a:rPr lang="en-US" b="1" dirty="0"/>
              <a:t>Select various thresholds:</a:t>
            </a:r>
            <a:r>
              <a:rPr lang="en-US" dirty="0"/>
              <a:t> select various quantiles of the 2030 value distribution and set various thresholds and therefore get various vulnerability indicator fields</a:t>
            </a:r>
          </a:p>
        </p:txBody>
      </p:sp>
    </p:spTree>
    <p:extLst>
      <p:ext uri="{BB962C8B-B14F-4D97-AF65-F5344CB8AC3E}">
        <p14:creationId xmlns:p14="http://schemas.microsoft.com/office/powerpoint/2010/main" val="13674436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AC575-E1AA-3421-FA15-89AE086F7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6DCE3A-A7F3-A017-07E6-154F45116580}"/>
              </a:ext>
            </a:extLst>
          </p:cNvPr>
          <p:cNvSpPr>
            <a:spLocks noGrp="1"/>
          </p:cNvSpPr>
          <p:nvPr>
            <p:ph type="title"/>
          </p:nvPr>
        </p:nvSpPr>
        <p:spPr/>
        <p:txBody>
          <a:bodyPr/>
          <a:lstStyle/>
          <a:p>
            <a:r>
              <a:rPr lang="en-US" dirty="0"/>
              <a:t>Compute vulnerability indicator</a:t>
            </a:r>
          </a:p>
        </p:txBody>
      </p:sp>
      <p:sp>
        <p:nvSpPr>
          <p:cNvPr id="3" name="Content Placeholder 2">
            <a:extLst>
              <a:ext uri="{FF2B5EF4-FFF2-40B4-BE49-F238E27FC236}">
                <a16:creationId xmlns:a16="http://schemas.microsoft.com/office/drawing/2014/main" id="{9125D59E-2697-D58F-B1B9-021BD701CCF6}"/>
              </a:ext>
            </a:extLst>
          </p:cNvPr>
          <p:cNvSpPr>
            <a:spLocks noGrp="1"/>
          </p:cNvSpPr>
          <p:nvPr>
            <p:ph idx="1"/>
          </p:nvPr>
        </p:nvSpPr>
        <p:spPr/>
        <p:txBody>
          <a:bodyPr/>
          <a:lstStyle/>
          <a:p>
            <a:r>
              <a:rPr lang="en-US" b="1" dirty="0"/>
              <a:t>Simple threshold:</a:t>
            </a:r>
            <a:r>
              <a:rPr lang="en-US" dirty="0"/>
              <a:t> if value 2030 &gt; 2022 then vulnerable.</a:t>
            </a:r>
          </a:p>
        </p:txBody>
      </p:sp>
    </p:spTree>
    <p:extLst>
      <p:ext uri="{BB962C8B-B14F-4D97-AF65-F5344CB8AC3E}">
        <p14:creationId xmlns:p14="http://schemas.microsoft.com/office/powerpoint/2010/main" val="3556640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104F8-1352-671E-2601-D4042216F2A3}"/>
              </a:ext>
            </a:extLst>
          </p:cNvPr>
          <p:cNvSpPr>
            <a:spLocks noGrp="1"/>
          </p:cNvSpPr>
          <p:nvPr>
            <p:ph type="title"/>
          </p:nvPr>
        </p:nvSpPr>
        <p:spPr/>
        <p:txBody>
          <a:bodyPr/>
          <a:lstStyle/>
          <a:p>
            <a:r>
              <a:rPr lang="en-US" dirty="0"/>
              <a:t>Aggregate ARIMA features</a:t>
            </a:r>
          </a:p>
        </p:txBody>
      </p:sp>
      <p:sp>
        <p:nvSpPr>
          <p:cNvPr id="3" name="Content Placeholder 2">
            <a:extLst>
              <a:ext uri="{FF2B5EF4-FFF2-40B4-BE49-F238E27FC236}">
                <a16:creationId xmlns:a16="http://schemas.microsoft.com/office/drawing/2014/main" id="{3A5EFA4F-E459-1F15-2C4E-1C00970A9433}"/>
              </a:ext>
            </a:extLst>
          </p:cNvPr>
          <p:cNvSpPr>
            <a:spLocks noGrp="1"/>
          </p:cNvSpPr>
          <p:nvPr>
            <p:ph idx="1"/>
          </p:nvPr>
        </p:nvSpPr>
        <p:spPr/>
        <p:txBody>
          <a:bodyPr/>
          <a:lstStyle/>
          <a:p>
            <a:r>
              <a:rPr lang="en-US" dirty="0"/>
              <a:t>The ARIMA data is in time series format however the vulnerability indicator isn’t, so we need to aggregate the time series data to be able to build our training data for the Random Forest</a:t>
            </a:r>
          </a:p>
        </p:txBody>
      </p:sp>
    </p:spTree>
    <p:extLst>
      <p:ext uri="{BB962C8B-B14F-4D97-AF65-F5344CB8AC3E}">
        <p14:creationId xmlns:p14="http://schemas.microsoft.com/office/powerpoint/2010/main" val="7428397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D44F4-70B9-BB93-5D7E-1D45E2B84C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3C177-C714-AC6A-FBD3-B060CDCA0813}"/>
              </a:ext>
            </a:extLst>
          </p:cNvPr>
          <p:cNvSpPr>
            <a:spLocks noGrp="1"/>
          </p:cNvSpPr>
          <p:nvPr>
            <p:ph type="title"/>
          </p:nvPr>
        </p:nvSpPr>
        <p:spPr/>
        <p:txBody>
          <a:bodyPr/>
          <a:lstStyle/>
          <a:p>
            <a:r>
              <a:rPr lang="en-US" dirty="0"/>
              <a:t>Example of ARIMA aggregated features</a:t>
            </a:r>
          </a:p>
        </p:txBody>
      </p:sp>
      <p:pic>
        <p:nvPicPr>
          <p:cNvPr id="4" name="Content Placeholder 3">
            <a:extLst>
              <a:ext uri="{FF2B5EF4-FFF2-40B4-BE49-F238E27FC236}">
                <a16:creationId xmlns:a16="http://schemas.microsoft.com/office/drawing/2014/main" id="{A2BC0A01-1EE9-6A69-506E-D4F78FB82CFD}"/>
              </a:ext>
            </a:extLst>
          </p:cNvPr>
          <p:cNvPicPr>
            <a:picLocks noGrp="1" noChangeAspect="1"/>
          </p:cNvPicPr>
          <p:nvPr>
            <p:ph idx="1"/>
          </p:nvPr>
        </p:nvPicPr>
        <p:blipFill>
          <a:blip r:embed="rId2"/>
          <a:stretch>
            <a:fillRect/>
          </a:stretch>
        </p:blipFill>
        <p:spPr>
          <a:xfrm>
            <a:off x="1155700" y="3036094"/>
            <a:ext cx="9880600" cy="1930400"/>
          </a:xfrm>
          <a:prstGeom prst="rect">
            <a:avLst/>
          </a:prstGeom>
        </p:spPr>
      </p:pic>
    </p:spTree>
    <p:extLst>
      <p:ext uri="{BB962C8B-B14F-4D97-AF65-F5344CB8AC3E}">
        <p14:creationId xmlns:p14="http://schemas.microsoft.com/office/powerpoint/2010/main" val="9240765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DE585-7746-6DC7-F0B1-9DD457A5A232}"/>
              </a:ext>
            </a:extLst>
          </p:cNvPr>
          <p:cNvSpPr>
            <a:spLocks noGrp="1"/>
          </p:cNvSpPr>
          <p:nvPr>
            <p:ph type="title"/>
          </p:nvPr>
        </p:nvSpPr>
        <p:spPr/>
        <p:txBody>
          <a:bodyPr/>
          <a:lstStyle/>
          <a:p>
            <a:r>
              <a:rPr lang="en-US" dirty="0"/>
              <a:t>Obtaining feature importance with RF</a:t>
            </a:r>
          </a:p>
        </p:txBody>
      </p:sp>
      <p:pic>
        <p:nvPicPr>
          <p:cNvPr id="5" name="Content Placeholder 4">
            <a:extLst>
              <a:ext uri="{FF2B5EF4-FFF2-40B4-BE49-F238E27FC236}">
                <a16:creationId xmlns:a16="http://schemas.microsoft.com/office/drawing/2014/main" id="{48F21A1C-6FBD-66E5-0F45-7C541DA781FB}"/>
              </a:ext>
            </a:extLst>
          </p:cNvPr>
          <p:cNvPicPr>
            <a:picLocks noGrp="1" noChangeAspect="1"/>
          </p:cNvPicPr>
          <p:nvPr>
            <p:ph idx="1"/>
          </p:nvPr>
        </p:nvPicPr>
        <p:blipFill>
          <a:blip r:embed="rId2"/>
          <a:stretch>
            <a:fillRect/>
          </a:stretch>
        </p:blipFill>
        <p:spPr>
          <a:xfrm>
            <a:off x="5183188" y="1588755"/>
            <a:ext cx="6172200" cy="3670965"/>
          </a:xfrm>
          <a:prstGeom prst="rect">
            <a:avLst/>
          </a:prstGeom>
        </p:spPr>
      </p:pic>
      <p:sp>
        <p:nvSpPr>
          <p:cNvPr id="4" name="Text Placeholder 3">
            <a:extLst>
              <a:ext uri="{FF2B5EF4-FFF2-40B4-BE49-F238E27FC236}">
                <a16:creationId xmlns:a16="http://schemas.microsoft.com/office/drawing/2014/main" id="{A531D39F-793B-B5CA-0817-FB59E6957BDF}"/>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Predicts vulnerability indicator and we obtain feature importance</a:t>
            </a:r>
          </a:p>
          <a:p>
            <a:endParaRPr lang="en-US" dirty="0"/>
          </a:p>
        </p:txBody>
      </p:sp>
    </p:spTree>
    <p:extLst>
      <p:ext uri="{BB962C8B-B14F-4D97-AF65-F5344CB8AC3E}">
        <p14:creationId xmlns:p14="http://schemas.microsoft.com/office/powerpoint/2010/main" val="35955496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136239-318F-07F3-D801-4D6E8FCEB38D}"/>
              </a:ext>
            </a:extLst>
          </p:cNvPr>
          <p:cNvSpPr>
            <a:spLocks noGrp="1"/>
          </p:cNvSpPr>
          <p:nvPr>
            <p:ph type="title"/>
          </p:nvPr>
        </p:nvSpPr>
        <p:spPr/>
        <p:txBody>
          <a:bodyPr/>
          <a:lstStyle/>
          <a:p>
            <a:r>
              <a:rPr lang="en-US" dirty="0"/>
              <a:t>What drivers should we pick?</a:t>
            </a:r>
          </a:p>
        </p:txBody>
      </p:sp>
      <p:sp>
        <p:nvSpPr>
          <p:cNvPr id="6" name="Content Placeholder 5">
            <a:extLst>
              <a:ext uri="{FF2B5EF4-FFF2-40B4-BE49-F238E27FC236}">
                <a16:creationId xmlns:a16="http://schemas.microsoft.com/office/drawing/2014/main" id="{F9A96B32-FD45-755D-7BC2-D9683076C49C}"/>
              </a:ext>
            </a:extLst>
          </p:cNvPr>
          <p:cNvSpPr>
            <a:spLocks noGrp="1"/>
          </p:cNvSpPr>
          <p:nvPr>
            <p:ph idx="1"/>
          </p:nvPr>
        </p:nvSpPr>
        <p:spPr/>
        <p:txBody>
          <a:bodyPr/>
          <a:lstStyle/>
          <a:p>
            <a:r>
              <a:rPr lang="en-US" dirty="0"/>
              <a:t>Since we’ve decomposed the drivers into their aggregates, we pick the top ”k” independent drivers</a:t>
            </a:r>
          </a:p>
          <a:p>
            <a:r>
              <a:rPr lang="en-US" dirty="0"/>
              <a:t>For example:</a:t>
            </a:r>
          </a:p>
          <a:p>
            <a:pPr lvl="1"/>
            <a:r>
              <a:rPr lang="en-US" dirty="0"/>
              <a:t>'</a:t>
            </a:r>
            <a:r>
              <a:rPr lang="en-US" dirty="0" err="1"/>
              <a:t>con_fossil_share_elec_pct</a:t>
            </a:r>
            <a:r>
              <a:rPr lang="en-US" dirty="0"/>
              <a:t>’,</a:t>
            </a:r>
          </a:p>
          <a:p>
            <a:pPr lvl="1"/>
            <a:r>
              <a:rPr lang="en-US" dirty="0"/>
              <a:t>'</a:t>
            </a:r>
            <a:r>
              <a:rPr lang="en-US" dirty="0" err="1"/>
              <a:t>x_log_signed_con_demand_per_capita</a:t>
            </a:r>
            <a:r>
              <a:rPr lang="en-US" dirty="0"/>
              <a:t>'</a:t>
            </a:r>
          </a:p>
        </p:txBody>
      </p:sp>
    </p:spTree>
    <p:extLst>
      <p:ext uri="{BB962C8B-B14F-4D97-AF65-F5344CB8AC3E}">
        <p14:creationId xmlns:p14="http://schemas.microsoft.com/office/powerpoint/2010/main" val="8823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E832D-7586-C431-BE90-498D1A2B79CD}"/>
              </a:ext>
            </a:extLst>
          </p:cNvPr>
          <p:cNvSpPr>
            <a:spLocks noGrp="1"/>
          </p:cNvSpPr>
          <p:nvPr>
            <p:ph type="title"/>
          </p:nvPr>
        </p:nvSpPr>
        <p:spPr/>
        <p:txBody>
          <a:bodyPr/>
          <a:lstStyle/>
          <a:p>
            <a:r>
              <a:rPr lang="en-US" dirty="0"/>
              <a:t>Finally we run the multi-objective optimization</a:t>
            </a:r>
          </a:p>
        </p:txBody>
      </p:sp>
      <p:pic>
        <p:nvPicPr>
          <p:cNvPr id="4" name="Content Placeholder 3">
            <a:extLst>
              <a:ext uri="{FF2B5EF4-FFF2-40B4-BE49-F238E27FC236}">
                <a16:creationId xmlns:a16="http://schemas.microsoft.com/office/drawing/2014/main" id="{F078B42E-C327-D59D-14FE-C758574646B8}"/>
              </a:ext>
            </a:extLst>
          </p:cNvPr>
          <p:cNvPicPr>
            <a:picLocks noGrp="1" noChangeAspect="1"/>
          </p:cNvPicPr>
          <p:nvPr>
            <p:ph idx="1"/>
          </p:nvPr>
        </p:nvPicPr>
        <p:blipFill>
          <a:blip r:embed="rId2"/>
          <a:stretch>
            <a:fillRect/>
          </a:stretch>
        </p:blipFill>
        <p:spPr>
          <a:xfrm>
            <a:off x="3587750" y="2128044"/>
            <a:ext cx="5016500" cy="3746500"/>
          </a:xfrm>
          <a:prstGeom prst="rect">
            <a:avLst/>
          </a:prstGeom>
        </p:spPr>
      </p:pic>
    </p:spTree>
    <p:extLst>
      <p:ext uri="{BB962C8B-B14F-4D97-AF65-F5344CB8AC3E}">
        <p14:creationId xmlns:p14="http://schemas.microsoft.com/office/powerpoint/2010/main" val="1945027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136F2C-AE9B-58DD-D1B4-49C13D511400}"/>
              </a:ext>
            </a:extLst>
          </p:cNvPr>
          <p:cNvSpPr>
            <a:spLocks noGrp="1"/>
          </p:cNvSpPr>
          <p:nvPr>
            <p:ph type="title"/>
          </p:nvPr>
        </p:nvSpPr>
        <p:spPr/>
        <p:txBody>
          <a:bodyPr/>
          <a:lstStyle/>
          <a:p>
            <a:r>
              <a:rPr lang="en-US" dirty="0"/>
              <a:t>Results for Mexico</a:t>
            </a:r>
          </a:p>
        </p:txBody>
      </p:sp>
      <p:pic>
        <p:nvPicPr>
          <p:cNvPr id="4" name="Content Placeholder 3">
            <a:extLst>
              <a:ext uri="{FF2B5EF4-FFF2-40B4-BE49-F238E27FC236}">
                <a16:creationId xmlns:a16="http://schemas.microsoft.com/office/drawing/2014/main" id="{96DEEEF5-810C-1338-1BD3-1F95338AA034}"/>
              </a:ext>
            </a:extLst>
          </p:cNvPr>
          <p:cNvPicPr>
            <a:picLocks noGrp="1" noChangeAspect="1"/>
          </p:cNvPicPr>
          <p:nvPr>
            <p:ph idx="1"/>
          </p:nvPr>
        </p:nvPicPr>
        <p:blipFill>
          <a:blip r:embed="rId2"/>
          <a:stretch>
            <a:fillRect/>
          </a:stretch>
        </p:blipFill>
        <p:spPr>
          <a:xfrm>
            <a:off x="838200" y="2546768"/>
            <a:ext cx="10515600" cy="2909051"/>
          </a:xfrm>
          <a:prstGeom prst="rect">
            <a:avLst/>
          </a:prstGeom>
        </p:spPr>
      </p:pic>
    </p:spTree>
    <p:extLst>
      <p:ext uri="{BB962C8B-B14F-4D97-AF65-F5344CB8AC3E}">
        <p14:creationId xmlns:p14="http://schemas.microsoft.com/office/powerpoint/2010/main" val="18429055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9A18-FFE0-7625-F0CB-F28197AD2585}"/>
              </a:ext>
            </a:extLst>
          </p:cNvPr>
          <p:cNvSpPr>
            <a:spLocks noGrp="1"/>
          </p:cNvSpPr>
          <p:nvPr>
            <p:ph type="title"/>
          </p:nvPr>
        </p:nvSpPr>
        <p:spPr/>
        <p:txBody>
          <a:bodyPr/>
          <a:lstStyle/>
          <a:p>
            <a:r>
              <a:rPr lang="en-US" dirty="0"/>
              <a:t>Results for </a:t>
            </a:r>
            <a:r>
              <a:rPr lang="en-US" dirty="0" err="1"/>
              <a:t>Brasil</a:t>
            </a:r>
            <a:endParaRPr lang="en-US" dirty="0"/>
          </a:p>
        </p:txBody>
      </p:sp>
      <p:pic>
        <p:nvPicPr>
          <p:cNvPr id="4" name="Content Placeholder 3">
            <a:extLst>
              <a:ext uri="{FF2B5EF4-FFF2-40B4-BE49-F238E27FC236}">
                <a16:creationId xmlns:a16="http://schemas.microsoft.com/office/drawing/2014/main" id="{0E0CEBCB-428A-26A2-1FA8-7CD5EAA49E18}"/>
              </a:ext>
            </a:extLst>
          </p:cNvPr>
          <p:cNvPicPr>
            <a:picLocks noGrp="1" noChangeAspect="1"/>
          </p:cNvPicPr>
          <p:nvPr>
            <p:ph idx="1"/>
          </p:nvPr>
        </p:nvPicPr>
        <p:blipFill>
          <a:blip r:embed="rId2"/>
          <a:stretch>
            <a:fillRect/>
          </a:stretch>
        </p:blipFill>
        <p:spPr>
          <a:xfrm>
            <a:off x="838200" y="2519655"/>
            <a:ext cx="10515600" cy="2963277"/>
          </a:xfrm>
          <a:prstGeom prst="rect">
            <a:avLst/>
          </a:prstGeom>
        </p:spPr>
      </p:pic>
    </p:spTree>
    <p:extLst>
      <p:ext uri="{BB962C8B-B14F-4D97-AF65-F5344CB8AC3E}">
        <p14:creationId xmlns:p14="http://schemas.microsoft.com/office/powerpoint/2010/main" val="41984433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2E6B5-BDB5-3969-3CF7-D25815ACB582}"/>
              </a:ext>
            </a:extLst>
          </p:cNvPr>
          <p:cNvSpPr>
            <a:spLocks noGrp="1"/>
          </p:cNvSpPr>
          <p:nvPr>
            <p:ph type="title"/>
          </p:nvPr>
        </p:nvSpPr>
        <p:spPr/>
        <p:txBody>
          <a:bodyPr/>
          <a:lstStyle/>
          <a:p>
            <a:r>
              <a:rPr lang="en-US" dirty="0"/>
              <a:t>Results for Canada</a:t>
            </a:r>
          </a:p>
        </p:txBody>
      </p:sp>
      <p:pic>
        <p:nvPicPr>
          <p:cNvPr id="4" name="Content Placeholder 3">
            <a:extLst>
              <a:ext uri="{FF2B5EF4-FFF2-40B4-BE49-F238E27FC236}">
                <a16:creationId xmlns:a16="http://schemas.microsoft.com/office/drawing/2014/main" id="{DEA5A850-BDFA-5E91-562A-A7E47320A097}"/>
              </a:ext>
            </a:extLst>
          </p:cNvPr>
          <p:cNvPicPr>
            <a:picLocks noGrp="1" noChangeAspect="1"/>
          </p:cNvPicPr>
          <p:nvPr>
            <p:ph idx="1"/>
          </p:nvPr>
        </p:nvPicPr>
        <p:blipFill>
          <a:blip r:embed="rId2"/>
          <a:stretch>
            <a:fillRect/>
          </a:stretch>
        </p:blipFill>
        <p:spPr>
          <a:xfrm>
            <a:off x="838200" y="2581909"/>
            <a:ext cx="10515600" cy="2838770"/>
          </a:xfrm>
          <a:prstGeom prst="rect">
            <a:avLst/>
          </a:prstGeom>
        </p:spPr>
      </p:pic>
    </p:spTree>
    <p:extLst>
      <p:ext uri="{BB962C8B-B14F-4D97-AF65-F5344CB8AC3E}">
        <p14:creationId xmlns:p14="http://schemas.microsoft.com/office/powerpoint/2010/main" val="2361600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3FFF5-E23C-BAE8-B57A-14E9E80B9AC2}"/>
              </a:ext>
            </a:extLst>
          </p:cNvPr>
          <p:cNvSpPr>
            <a:spLocks noGrp="1"/>
          </p:cNvSpPr>
          <p:nvPr>
            <p:ph type="title"/>
          </p:nvPr>
        </p:nvSpPr>
        <p:spPr/>
        <p:txBody>
          <a:bodyPr/>
          <a:lstStyle/>
          <a:p>
            <a:r>
              <a:rPr lang="en-US" dirty="0"/>
              <a:t>The issues with this approach</a:t>
            </a:r>
          </a:p>
        </p:txBody>
      </p:sp>
      <p:sp>
        <p:nvSpPr>
          <p:cNvPr id="6" name="Text Placeholder 5">
            <a:extLst>
              <a:ext uri="{FF2B5EF4-FFF2-40B4-BE49-F238E27FC236}">
                <a16:creationId xmlns:a16="http://schemas.microsoft.com/office/drawing/2014/main" id="{8A1D7269-CAA1-93E5-0E46-FEFDFE41CB6F}"/>
              </a:ext>
            </a:extLst>
          </p:cNvPr>
          <p:cNvSpPr>
            <a:spLocks noGrp="1"/>
          </p:cNvSpPr>
          <p:nvPr>
            <p:ph type="body" sz="half" idx="2"/>
          </p:nvPr>
        </p:nvSpPr>
        <p:spPr/>
        <p:txBody>
          <a:bodyPr/>
          <a:lstStyle/>
          <a:p>
            <a:r>
              <a:rPr lang="en-US" dirty="0"/>
              <a:t>There are countries like the USA or Costa Rica that have no futures with 2030 values below or above the 2022 value so that rule doesn’t work for them.</a:t>
            </a:r>
          </a:p>
          <a:p>
            <a:endParaRPr lang="en-US" dirty="0"/>
          </a:p>
        </p:txBody>
      </p:sp>
      <p:pic>
        <p:nvPicPr>
          <p:cNvPr id="13" name="Content Placeholder 12">
            <a:extLst>
              <a:ext uri="{FF2B5EF4-FFF2-40B4-BE49-F238E27FC236}">
                <a16:creationId xmlns:a16="http://schemas.microsoft.com/office/drawing/2014/main" id="{7A0B1493-D053-8470-2F93-4AE256866643}"/>
              </a:ext>
            </a:extLst>
          </p:cNvPr>
          <p:cNvPicPr>
            <a:picLocks noGrp="1" noChangeAspect="1"/>
          </p:cNvPicPr>
          <p:nvPr>
            <p:ph idx="1"/>
          </p:nvPr>
        </p:nvPicPr>
        <p:blipFill>
          <a:blip r:embed="rId2"/>
          <a:stretch>
            <a:fillRect/>
          </a:stretch>
        </p:blipFill>
        <p:spPr>
          <a:xfrm>
            <a:off x="5821664" y="952500"/>
            <a:ext cx="5003800" cy="2476500"/>
          </a:xfrm>
          <a:prstGeom prst="rect">
            <a:avLst/>
          </a:prstGeom>
        </p:spPr>
      </p:pic>
      <p:pic>
        <p:nvPicPr>
          <p:cNvPr id="14" name="Picture 13">
            <a:extLst>
              <a:ext uri="{FF2B5EF4-FFF2-40B4-BE49-F238E27FC236}">
                <a16:creationId xmlns:a16="http://schemas.microsoft.com/office/drawing/2014/main" id="{39F017D2-66CC-FFA9-CACC-FBCDC660A83B}"/>
              </a:ext>
            </a:extLst>
          </p:cNvPr>
          <p:cNvPicPr>
            <a:picLocks noChangeAspect="1"/>
          </p:cNvPicPr>
          <p:nvPr/>
        </p:nvPicPr>
        <p:blipFill>
          <a:blip r:embed="rId3"/>
          <a:stretch>
            <a:fillRect/>
          </a:stretch>
        </p:blipFill>
        <p:spPr>
          <a:xfrm>
            <a:off x="5821664" y="3963194"/>
            <a:ext cx="5016500" cy="2476500"/>
          </a:xfrm>
          <a:prstGeom prst="rect">
            <a:avLst/>
          </a:prstGeom>
        </p:spPr>
      </p:pic>
    </p:spTree>
    <p:extLst>
      <p:ext uri="{BB962C8B-B14F-4D97-AF65-F5344CB8AC3E}">
        <p14:creationId xmlns:p14="http://schemas.microsoft.com/office/powerpoint/2010/main" val="2194413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C9A23-C604-9656-DF9F-3E8A26276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C07DC2-E41A-A27B-3461-0D60CAF3081F}"/>
              </a:ext>
            </a:extLst>
          </p:cNvPr>
          <p:cNvSpPr>
            <a:spLocks noGrp="1"/>
          </p:cNvSpPr>
          <p:nvPr>
            <p:ph type="title"/>
          </p:nvPr>
        </p:nvSpPr>
        <p:spPr/>
        <p:txBody>
          <a:bodyPr/>
          <a:lstStyle/>
          <a:p>
            <a:r>
              <a:rPr lang="en-US" dirty="0"/>
              <a:t>Possible solutions</a:t>
            </a:r>
          </a:p>
        </p:txBody>
      </p:sp>
      <p:sp>
        <p:nvSpPr>
          <p:cNvPr id="3" name="Content Placeholder 2">
            <a:extLst>
              <a:ext uri="{FF2B5EF4-FFF2-40B4-BE49-F238E27FC236}">
                <a16:creationId xmlns:a16="http://schemas.microsoft.com/office/drawing/2014/main" id="{988B6A16-2FF0-6CD5-8533-6A07AFEB01F0}"/>
              </a:ext>
            </a:extLst>
          </p:cNvPr>
          <p:cNvSpPr>
            <a:spLocks noGrp="1"/>
          </p:cNvSpPr>
          <p:nvPr>
            <p:ph idx="1"/>
          </p:nvPr>
        </p:nvSpPr>
        <p:spPr/>
        <p:txBody>
          <a:bodyPr/>
          <a:lstStyle/>
          <a:p>
            <a:r>
              <a:rPr lang="en-US" b="1" dirty="0"/>
              <a:t>Class balance threshold: </a:t>
            </a:r>
            <a:r>
              <a:rPr lang="en-US" dirty="0"/>
              <a:t>find a value that balances the the amount 0s and 1s in the indicators class</a:t>
            </a:r>
          </a:p>
          <a:p>
            <a:r>
              <a:rPr lang="en-US" b="1" dirty="0"/>
              <a:t>Select various thresholds:</a:t>
            </a:r>
            <a:r>
              <a:rPr lang="en-US" dirty="0"/>
              <a:t> select various quantiles of the 2030 value distribution and set various thresholds and therefore get various vulnerability indicator fields</a:t>
            </a:r>
          </a:p>
        </p:txBody>
      </p:sp>
    </p:spTree>
    <p:extLst>
      <p:ext uri="{BB962C8B-B14F-4D97-AF65-F5344CB8AC3E}">
        <p14:creationId xmlns:p14="http://schemas.microsoft.com/office/powerpoint/2010/main" val="23699503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D5B4A-F21A-7237-5FF3-868F98FEA2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F0E02-91F2-23C8-2D33-52806628CE91}"/>
              </a:ext>
            </a:extLst>
          </p:cNvPr>
          <p:cNvSpPr>
            <a:spLocks noGrp="1"/>
          </p:cNvSpPr>
          <p:nvPr>
            <p:ph type="title"/>
          </p:nvPr>
        </p:nvSpPr>
        <p:spPr/>
        <p:txBody>
          <a:bodyPr/>
          <a:lstStyle/>
          <a:p>
            <a:r>
              <a:rPr lang="en-US" dirty="0"/>
              <a:t>What I am currently doing</a:t>
            </a:r>
          </a:p>
        </p:txBody>
      </p:sp>
      <p:sp>
        <p:nvSpPr>
          <p:cNvPr id="3" name="Content Placeholder 2">
            <a:extLst>
              <a:ext uri="{FF2B5EF4-FFF2-40B4-BE49-F238E27FC236}">
                <a16:creationId xmlns:a16="http://schemas.microsoft.com/office/drawing/2014/main" id="{EDAF494A-6E78-2913-04A2-1CA0AFE51661}"/>
              </a:ext>
            </a:extLst>
          </p:cNvPr>
          <p:cNvSpPr>
            <a:spLocks noGrp="1"/>
          </p:cNvSpPr>
          <p:nvPr>
            <p:ph idx="1"/>
          </p:nvPr>
        </p:nvSpPr>
        <p:spPr/>
        <p:txBody>
          <a:bodyPr/>
          <a:lstStyle/>
          <a:p>
            <a:r>
              <a:rPr lang="en-US" b="1" dirty="0"/>
              <a:t>Class balance threshold: </a:t>
            </a:r>
            <a:r>
              <a:rPr lang="en-US" dirty="0"/>
              <a:t>find a value that balances the the amount 0s and 1s in the indicators class</a:t>
            </a:r>
          </a:p>
        </p:txBody>
      </p:sp>
    </p:spTree>
    <p:extLst>
      <p:ext uri="{BB962C8B-B14F-4D97-AF65-F5344CB8AC3E}">
        <p14:creationId xmlns:p14="http://schemas.microsoft.com/office/powerpoint/2010/main" val="20709322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AED185-E1E9-2B04-C2AE-1DB849963B3C}"/>
              </a:ext>
            </a:extLst>
          </p:cNvPr>
          <p:cNvSpPr>
            <a:spLocks noGrp="1"/>
          </p:cNvSpPr>
          <p:nvPr>
            <p:ph type="title"/>
          </p:nvPr>
        </p:nvSpPr>
        <p:spPr/>
        <p:txBody>
          <a:bodyPr/>
          <a:lstStyle/>
          <a:p>
            <a:r>
              <a:rPr lang="en-US" dirty="0"/>
              <a:t>How it changed for Mexico</a:t>
            </a:r>
          </a:p>
        </p:txBody>
      </p:sp>
      <p:pic>
        <p:nvPicPr>
          <p:cNvPr id="9" name="Content Placeholder 8">
            <a:extLst>
              <a:ext uri="{FF2B5EF4-FFF2-40B4-BE49-F238E27FC236}">
                <a16:creationId xmlns:a16="http://schemas.microsoft.com/office/drawing/2014/main" id="{D88404A4-65F5-2F23-BD1D-814C143DB626}"/>
              </a:ext>
            </a:extLst>
          </p:cNvPr>
          <p:cNvPicPr>
            <a:picLocks noGrp="1" noChangeAspect="1"/>
          </p:cNvPicPr>
          <p:nvPr>
            <p:ph sz="half" idx="1"/>
          </p:nvPr>
        </p:nvPicPr>
        <p:blipFill>
          <a:blip r:embed="rId2"/>
          <a:stretch>
            <a:fillRect/>
          </a:stretch>
        </p:blipFill>
        <p:spPr>
          <a:xfrm>
            <a:off x="920750" y="2763044"/>
            <a:ext cx="5016500" cy="2476500"/>
          </a:xfrm>
          <a:prstGeom prst="rect">
            <a:avLst/>
          </a:prstGeom>
        </p:spPr>
      </p:pic>
      <p:pic>
        <p:nvPicPr>
          <p:cNvPr id="8" name="Content Placeholder 7">
            <a:extLst>
              <a:ext uri="{FF2B5EF4-FFF2-40B4-BE49-F238E27FC236}">
                <a16:creationId xmlns:a16="http://schemas.microsoft.com/office/drawing/2014/main" id="{755A0039-3C8E-9F87-C126-6F8D629E0D03}"/>
              </a:ext>
            </a:extLst>
          </p:cNvPr>
          <p:cNvPicPr>
            <a:picLocks noGrp="1" noChangeAspect="1"/>
          </p:cNvPicPr>
          <p:nvPr>
            <p:ph sz="half" idx="2"/>
          </p:nvPr>
        </p:nvPicPr>
        <p:blipFill>
          <a:blip r:embed="rId3"/>
          <a:stretch>
            <a:fillRect/>
          </a:stretch>
        </p:blipFill>
        <p:spPr>
          <a:xfrm>
            <a:off x="6172200" y="2724139"/>
            <a:ext cx="5181600" cy="2554309"/>
          </a:xfrm>
          <a:prstGeom prst="rect">
            <a:avLst/>
          </a:prstGeom>
        </p:spPr>
      </p:pic>
    </p:spTree>
    <p:extLst>
      <p:ext uri="{BB962C8B-B14F-4D97-AF65-F5344CB8AC3E}">
        <p14:creationId xmlns:p14="http://schemas.microsoft.com/office/powerpoint/2010/main" val="21077264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CB43D-B329-F546-B994-3883FF9214ED}"/>
              </a:ext>
            </a:extLst>
          </p:cNvPr>
          <p:cNvSpPr>
            <a:spLocks noGrp="1"/>
          </p:cNvSpPr>
          <p:nvPr>
            <p:ph type="title"/>
          </p:nvPr>
        </p:nvSpPr>
        <p:spPr/>
        <p:txBody>
          <a:bodyPr/>
          <a:lstStyle/>
          <a:p>
            <a:r>
              <a:rPr lang="en-US" dirty="0"/>
              <a:t>How results changed</a:t>
            </a:r>
          </a:p>
        </p:txBody>
      </p:sp>
      <p:pic>
        <p:nvPicPr>
          <p:cNvPr id="5" name="Content Placeholder 4">
            <a:extLst>
              <a:ext uri="{FF2B5EF4-FFF2-40B4-BE49-F238E27FC236}">
                <a16:creationId xmlns:a16="http://schemas.microsoft.com/office/drawing/2014/main" id="{63AB1128-C24D-0B61-AC7B-448803E2DA49}"/>
              </a:ext>
            </a:extLst>
          </p:cNvPr>
          <p:cNvPicPr>
            <a:picLocks noGrp="1" noChangeAspect="1"/>
          </p:cNvPicPr>
          <p:nvPr>
            <p:ph sz="half" idx="1"/>
          </p:nvPr>
        </p:nvPicPr>
        <p:blipFill>
          <a:blip r:embed="rId2"/>
          <a:stretch>
            <a:fillRect/>
          </a:stretch>
        </p:blipFill>
        <p:spPr>
          <a:xfrm>
            <a:off x="1391597" y="1540216"/>
            <a:ext cx="8588737" cy="2376000"/>
          </a:xfrm>
          <a:prstGeom prst="rect">
            <a:avLst/>
          </a:prstGeom>
        </p:spPr>
      </p:pic>
      <p:pic>
        <p:nvPicPr>
          <p:cNvPr id="7" name="Content Placeholder 6">
            <a:extLst>
              <a:ext uri="{FF2B5EF4-FFF2-40B4-BE49-F238E27FC236}">
                <a16:creationId xmlns:a16="http://schemas.microsoft.com/office/drawing/2014/main" id="{DF82F0E5-65C4-13BF-63A9-463CDA45C7C4}"/>
              </a:ext>
            </a:extLst>
          </p:cNvPr>
          <p:cNvPicPr>
            <a:picLocks noGrp="1" noChangeAspect="1"/>
          </p:cNvPicPr>
          <p:nvPr>
            <p:ph sz="half" idx="2"/>
          </p:nvPr>
        </p:nvPicPr>
        <p:blipFill>
          <a:blip r:embed="rId3"/>
          <a:stretch>
            <a:fillRect/>
          </a:stretch>
        </p:blipFill>
        <p:spPr>
          <a:xfrm>
            <a:off x="1391597" y="4434106"/>
            <a:ext cx="8608976" cy="2376000"/>
          </a:xfrm>
          <a:prstGeom prst="rect">
            <a:avLst/>
          </a:prstGeom>
        </p:spPr>
      </p:pic>
    </p:spTree>
    <p:extLst>
      <p:ext uri="{BB962C8B-B14F-4D97-AF65-F5344CB8AC3E}">
        <p14:creationId xmlns:p14="http://schemas.microsoft.com/office/powerpoint/2010/main" val="29726705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C438-3313-89B1-438D-CA251F3D74BC}"/>
              </a:ext>
            </a:extLst>
          </p:cNvPr>
          <p:cNvSpPr>
            <a:spLocks noGrp="1"/>
          </p:cNvSpPr>
          <p:nvPr>
            <p:ph type="title"/>
          </p:nvPr>
        </p:nvSpPr>
        <p:spPr/>
        <p:txBody>
          <a:bodyPr/>
          <a:lstStyle/>
          <a:p>
            <a:r>
              <a:rPr lang="en-US" dirty="0"/>
              <a:t>I did that for the 136 countries we have, and this are the top features</a:t>
            </a:r>
          </a:p>
        </p:txBody>
      </p:sp>
      <p:pic>
        <p:nvPicPr>
          <p:cNvPr id="6" name="Content Placeholder 5">
            <a:extLst>
              <a:ext uri="{FF2B5EF4-FFF2-40B4-BE49-F238E27FC236}">
                <a16:creationId xmlns:a16="http://schemas.microsoft.com/office/drawing/2014/main" id="{CC275120-22B4-6458-9915-BEC4BD63637D}"/>
              </a:ext>
            </a:extLst>
          </p:cNvPr>
          <p:cNvPicPr>
            <a:picLocks noGrp="1" noChangeAspect="1"/>
          </p:cNvPicPr>
          <p:nvPr>
            <p:ph idx="1"/>
          </p:nvPr>
        </p:nvPicPr>
        <p:blipFill>
          <a:blip r:embed="rId2"/>
          <a:stretch>
            <a:fillRect/>
          </a:stretch>
        </p:blipFill>
        <p:spPr>
          <a:xfrm>
            <a:off x="838200" y="2215698"/>
            <a:ext cx="10515600" cy="3571192"/>
          </a:xfrm>
          <a:prstGeom prst="rect">
            <a:avLst/>
          </a:prstGeom>
        </p:spPr>
      </p:pic>
    </p:spTree>
    <p:extLst>
      <p:ext uri="{BB962C8B-B14F-4D97-AF65-F5344CB8AC3E}">
        <p14:creationId xmlns:p14="http://schemas.microsoft.com/office/powerpoint/2010/main" val="36109064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AD622-A03D-6531-EB11-2A7D848C4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75F56-618E-35D3-36EC-3C9772182923}"/>
              </a:ext>
            </a:extLst>
          </p:cNvPr>
          <p:cNvSpPr>
            <a:spLocks noGrp="1"/>
          </p:cNvSpPr>
          <p:nvPr>
            <p:ph type="title"/>
          </p:nvPr>
        </p:nvSpPr>
        <p:spPr/>
        <p:txBody>
          <a:bodyPr/>
          <a:lstStyle/>
          <a:p>
            <a:r>
              <a:rPr lang="en-US" dirty="0"/>
              <a:t>Update April 6th</a:t>
            </a:r>
          </a:p>
        </p:txBody>
      </p:sp>
      <p:sp>
        <p:nvSpPr>
          <p:cNvPr id="3" name="Text Placeholder 2">
            <a:extLst>
              <a:ext uri="{FF2B5EF4-FFF2-40B4-BE49-F238E27FC236}">
                <a16:creationId xmlns:a16="http://schemas.microsoft.com/office/drawing/2014/main" id="{80728259-9145-F51E-B20F-A0BB274E1C96}"/>
              </a:ext>
            </a:extLst>
          </p:cNvPr>
          <p:cNvSpPr>
            <a:spLocks noGrp="1"/>
          </p:cNvSpPr>
          <p:nvPr>
            <p:ph type="body" idx="1"/>
          </p:nvPr>
        </p:nvSpPr>
        <p:spPr/>
        <p:txBody>
          <a:bodyPr/>
          <a:lstStyle/>
          <a:p>
            <a:r>
              <a:rPr lang="en-US" dirty="0"/>
              <a:t>Scenario Discovery</a:t>
            </a:r>
          </a:p>
        </p:txBody>
      </p:sp>
    </p:spTree>
    <p:extLst>
      <p:ext uri="{BB962C8B-B14F-4D97-AF65-F5344CB8AC3E}">
        <p14:creationId xmlns:p14="http://schemas.microsoft.com/office/powerpoint/2010/main" val="7070962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BF12F-775A-D21A-8807-3504E2615FE2}"/>
              </a:ext>
            </a:extLst>
          </p:cNvPr>
          <p:cNvSpPr>
            <a:spLocks noGrp="1"/>
          </p:cNvSpPr>
          <p:nvPr>
            <p:ph type="title"/>
          </p:nvPr>
        </p:nvSpPr>
        <p:spPr/>
        <p:txBody>
          <a:bodyPr/>
          <a:lstStyle/>
          <a:p>
            <a:r>
              <a:rPr lang="en-US" dirty="0"/>
              <a:t>General Updates</a:t>
            </a:r>
          </a:p>
        </p:txBody>
      </p:sp>
      <p:sp>
        <p:nvSpPr>
          <p:cNvPr id="3" name="Content Placeholder 2">
            <a:extLst>
              <a:ext uri="{FF2B5EF4-FFF2-40B4-BE49-F238E27FC236}">
                <a16:creationId xmlns:a16="http://schemas.microsoft.com/office/drawing/2014/main" id="{4E3C7730-840E-DF8F-1D29-969506DAE21E}"/>
              </a:ext>
            </a:extLst>
          </p:cNvPr>
          <p:cNvSpPr>
            <a:spLocks noGrp="1"/>
          </p:cNvSpPr>
          <p:nvPr>
            <p:ph idx="1"/>
          </p:nvPr>
        </p:nvSpPr>
        <p:spPr/>
        <p:txBody>
          <a:bodyPr/>
          <a:lstStyle/>
          <a:p>
            <a:r>
              <a:rPr lang="en-US" dirty="0"/>
              <a:t>Checked coverage and density calculation</a:t>
            </a:r>
          </a:p>
          <a:p>
            <a:r>
              <a:rPr lang="en-US" dirty="0"/>
              <a:t>We set the scenario discovery for the top 3 drivers</a:t>
            </a:r>
          </a:p>
          <a:p>
            <a:r>
              <a:rPr lang="en-US" dirty="0"/>
              <a:t>We use the auto threshold method using the quantile 50 value</a:t>
            </a:r>
          </a:p>
          <a:p>
            <a:r>
              <a:rPr lang="en-US" dirty="0"/>
              <a:t>Reduced the number of aggregations to train the random forest model</a:t>
            </a:r>
          </a:p>
          <a:p>
            <a:r>
              <a:rPr lang="en-US" dirty="0"/>
              <a:t>Updated the box cutoffs selection, prioritizing density</a:t>
            </a:r>
          </a:p>
          <a:p>
            <a:r>
              <a:rPr lang="en-US" dirty="0"/>
              <a:t>Updated the reports to add feature combination count and income level classification</a:t>
            </a:r>
          </a:p>
        </p:txBody>
      </p:sp>
    </p:spTree>
    <p:extLst>
      <p:ext uri="{BB962C8B-B14F-4D97-AF65-F5344CB8AC3E}">
        <p14:creationId xmlns:p14="http://schemas.microsoft.com/office/powerpoint/2010/main" val="21921621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BD24E-C1F9-DAAD-2AAC-1B2F0D2EA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CA32D8-38E3-1E20-21E5-5091EE397DDA}"/>
              </a:ext>
            </a:extLst>
          </p:cNvPr>
          <p:cNvSpPr>
            <a:spLocks noGrp="1"/>
          </p:cNvSpPr>
          <p:nvPr>
            <p:ph type="title"/>
          </p:nvPr>
        </p:nvSpPr>
        <p:spPr/>
        <p:txBody>
          <a:bodyPr/>
          <a:lstStyle/>
          <a:p>
            <a:r>
              <a:rPr lang="en-US" dirty="0"/>
              <a:t>General Updates</a:t>
            </a:r>
          </a:p>
        </p:txBody>
      </p:sp>
      <p:sp>
        <p:nvSpPr>
          <p:cNvPr id="3" name="Content Placeholder 2">
            <a:extLst>
              <a:ext uri="{FF2B5EF4-FFF2-40B4-BE49-F238E27FC236}">
                <a16:creationId xmlns:a16="http://schemas.microsoft.com/office/drawing/2014/main" id="{85330309-A622-250F-A426-E7C218327752}"/>
              </a:ext>
            </a:extLst>
          </p:cNvPr>
          <p:cNvSpPr>
            <a:spLocks noGrp="1"/>
          </p:cNvSpPr>
          <p:nvPr>
            <p:ph idx="1"/>
          </p:nvPr>
        </p:nvSpPr>
        <p:spPr/>
        <p:txBody>
          <a:bodyPr/>
          <a:lstStyle/>
          <a:p>
            <a:r>
              <a:rPr lang="en-US" strike="sngStrike" dirty="0"/>
              <a:t>Checked coverage and density calculation</a:t>
            </a:r>
          </a:p>
          <a:p>
            <a:r>
              <a:rPr lang="en-US" strike="sngStrike" dirty="0"/>
              <a:t>We set the scenario discovery for the top 3 drivers</a:t>
            </a:r>
          </a:p>
          <a:p>
            <a:r>
              <a:rPr lang="en-US" b="1" dirty="0"/>
              <a:t>We use the auto threshold method using the quantile 50 value</a:t>
            </a:r>
          </a:p>
          <a:p>
            <a:r>
              <a:rPr lang="en-US" dirty="0"/>
              <a:t>Reduced the number of aggregations to train the random forest model</a:t>
            </a:r>
          </a:p>
          <a:p>
            <a:r>
              <a:rPr lang="en-US" dirty="0"/>
              <a:t>Updated the box cutoffs selection, prioritizing density</a:t>
            </a:r>
          </a:p>
          <a:p>
            <a:r>
              <a:rPr lang="en-US" dirty="0"/>
              <a:t>Updated the reports to add feature combination count and income level classification</a:t>
            </a:r>
          </a:p>
        </p:txBody>
      </p:sp>
    </p:spTree>
    <p:extLst>
      <p:ext uri="{BB962C8B-B14F-4D97-AF65-F5344CB8AC3E}">
        <p14:creationId xmlns:p14="http://schemas.microsoft.com/office/powerpoint/2010/main" val="22017665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393FD-991D-2813-C8DC-9632D51EECBC}"/>
              </a:ext>
            </a:extLst>
          </p:cNvPr>
          <p:cNvSpPr>
            <a:spLocks noGrp="1"/>
          </p:cNvSpPr>
          <p:nvPr>
            <p:ph type="title"/>
          </p:nvPr>
        </p:nvSpPr>
        <p:spPr/>
        <p:txBody>
          <a:bodyPr/>
          <a:lstStyle/>
          <a:p>
            <a:r>
              <a:rPr lang="en-US" dirty="0"/>
              <a:t>Example: MEX</a:t>
            </a:r>
          </a:p>
        </p:txBody>
      </p:sp>
      <p:pic>
        <p:nvPicPr>
          <p:cNvPr id="4" name="Content Placeholder 3">
            <a:extLst>
              <a:ext uri="{FF2B5EF4-FFF2-40B4-BE49-F238E27FC236}">
                <a16:creationId xmlns:a16="http://schemas.microsoft.com/office/drawing/2014/main" id="{169807C6-3340-0639-A6CA-95E0C65F87FD}"/>
              </a:ext>
            </a:extLst>
          </p:cNvPr>
          <p:cNvPicPr>
            <a:picLocks noGrp="1" noChangeAspect="1"/>
          </p:cNvPicPr>
          <p:nvPr>
            <p:ph idx="1"/>
          </p:nvPr>
        </p:nvPicPr>
        <p:blipFill>
          <a:blip r:embed="rId2"/>
          <a:stretch>
            <a:fillRect/>
          </a:stretch>
        </p:blipFill>
        <p:spPr>
          <a:xfrm>
            <a:off x="1686917" y="1825625"/>
            <a:ext cx="8818165" cy="4351338"/>
          </a:xfrm>
          <a:prstGeom prst="rect">
            <a:avLst/>
          </a:prstGeom>
        </p:spPr>
      </p:pic>
    </p:spTree>
    <p:extLst>
      <p:ext uri="{BB962C8B-B14F-4D97-AF65-F5344CB8AC3E}">
        <p14:creationId xmlns:p14="http://schemas.microsoft.com/office/powerpoint/2010/main" val="10379790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8079F-1A13-5FBC-3FE6-D51991651062}"/>
              </a:ext>
            </a:extLst>
          </p:cNvPr>
          <p:cNvSpPr>
            <a:spLocks noGrp="1"/>
          </p:cNvSpPr>
          <p:nvPr>
            <p:ph type="title"/>
          </p:nvPr>
        </p:nvSpPr>
        <p:spPr/>
        <p:txBody>
          <a:bodyPr/>
          <a:lstStyle/>
          <a:p>
            <a:r>
              <a:rPr lang="en-US" dirty="0"/>
              <a:t>Some stats about the thresholds</a:t>
            </a:r>
          </a:p>
        </p:txBody>
      </p:sp>
      <p:graphicFrame>
        <p:nvGraphicFramePr>
          <p:cNvPr id="4" name="Content Placeholder 3">
            <a:extLst>
              <a:ext uri="{FF2B5EF4-FFF2-40B4-BE49-F238E27FC236}">
                <a16:creationId xmlns:a16="http://schemas.microsoft.com/office/drawing/2014/main" id="{DF06FCD6-E2E9-97C6-0266-7CF6A1B4BF4B}"/>
              </a:ext>
            </a:extLst>
          </p:cNvPr>
          <p:cNvGraphicFramePr>
            <a:graphicFrameLocks noGrp="1"/>
          </p:cNvGraphicFramePr>
          <p:nvPr>
            <p:ph idx="1"/>
            <p:extLst>
              <p:ext uri="{D42A27DB-BD31-4B8C-83A1-F6EECF244321}">
                <p14:modId xmlns:p14="http://schemas.microsoft.com/office/powerpoint/2010/main" val="294334489"/>
              </p:ext>
            </p:extLst>
          </p:nvPr>
        </p:nvGraphicFramePr>
        <p:xfrm>
          <a:off x="3992880" y="2466340"/>
          <a:ext cx="4206240" cy="24739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151491882"/>
                    </a:ext>
                  </a:extLst>
                </a:gridCol>
                <a:gridCol w="2103120">
                  <a:extLst>
                    <a:ext uri="{9D8B030D-6E8A-4147-A177-3AD203B41FA5}">
                      <a16:colId xmlns:a16="http://schemas.microsoft.com/office/drawing/2014/main" val="784649476"/>
                    </a:ext>
                  </a:extLst>
                </a:gridCol>
              </a:tblGrid>
              <a:tr h="370840">
                <a:tc>
                  <a:txBody>
                    <a:bodyPr/>
                    <a:lstStyle/>
                    <a:p>
                      <a:r>
                        <a:rPr lang="en-US" dirty="0"/>
                        <a:t>Value Type</a:t>
                      </a:r>
                    </a:p>
                  </a:txBody>
                  <a:tcPr/>
                </a:tc>
                <a:tc>
                  <a:txBody>
                    <a:bodyPr/>
                    <a:lstStyle/>
                    <a:p>
                      <a:r>
                        <a:rPr lang="en-US" dirty="0"/>
                        <a:t>% of countries where the value is above the vulnerability threshold</a:t>
                      </a:r>
                    </a:p>
                  </a:txBody>
                  <a:tcPr/>
                </a:tc>
                <a:extLst>
                  <a:ext uri="{0D108BD9-81ED-4DB2-BD59-A6C34878D82A}">
                    <a16:rowId xmlns:a16="http://schemas.microsoft.com/office/drawing/2014/main" val="963785140"/>
                  </a:ext>
                </a:extLst>
              </a:tr>
              <a:tr h="370840">
                <a:tc>
                  <a:txBody>
                    <a:bodyPr/>
                    <a:lstStyle/>
                    <a:p>
                      <a:r>
                        <a:rPr lang="en-US" dirty="0"/>
                        <a:t>2022 Value</a:t>
                      </a:r>
                    </a:p>
                  </a:txBody>
                  <a:tcPr/>
                </a:tc>
                <a:tc>
                  <a:txBody>
                    <a:bodyPr/>
                    <a:lstStyle/>
                    <a:p>
                      <a:r>
                        <a:rPr lang="en-US" dirty="0"/>
                        <a:t>37.5</a:t>
                      </a:r>
                    </a:p>
                  </a:txBody>
                  <a:tcPr/>
                </a:tc>
                <a:extLst>
                  <a:ext uri="{0D108BD9-81ED-4DB2-BD59-A6C34878D82A}">
                    <a16:rowId xmlns:a16="http://schemas.microsoft.com/office/drawing/2014/main" val="77702366"/>
                  </a:ext>
                </a:extLst>
              </a:tr>
              <a:tr h="370840">
                <a:tc>
                  <a:txBody>
                    <a:bodyPr/>
                    <a:lstStyle/>
                    <a:p>
                      <a:r>
                        <a:rPr lang="en-US" dirty="0"/>
                        <a:t>NDC Unconditional Target</a:t>
                      </a:r>
                    </a:p>
                  </a:txBody>
                  <a:tcPr/>
                </a:tc>
                <a:tc>
                  <a:txBody>
                    <a:bodyPr/>
                    <a:lstStyle/>
                    <a:p>
                      <a:r>
                        <a:rPr lang="en-US" dirty="0"/>
                        <a:t>44.85</a:t>
                      </a:r>
                    </a:p>
                  </a:txBody>
                  <a:tcPr/>
                </a:tc>
                <a:extLst>
                  <a:ext uri="{0D108BD9-81ED-4DB2-BD59-A6C34878D82A}">
                    <a16:rowId xmlns:a16="http://schemas.microsoft.com/office/drawing/2014/main" val="1300729827"/>
                  </a:ext>
                </a:extLst>
              </a:tr>
            </a:tbl>
          </a:graphicData>
        </a:graphic>
      </p:graphicFrame>
    </p:spTree>
    <p:extLst>
      <p:ext uri="{BB962C8B-B14F-4D97-AF65-F5344CB8AC3E}">
        <p14:creationId xmlns:p14="http://schemas.microsoft.com/office/powerpoint/2010/main" val="33739168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2D845-E1C4-150C-1056-64FAD69C7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179B3-AD18-0E08-DAEE-7FE1434CDAC7}"/>
              </a:ext>
            </a:extLst>
          </p:cNvPr>
          <p:cNvSpPr>
            <a:spLocks noGrp="1"/>
          </p:cNvSpPr>
          <p:nvPr>
            <p:ph type="title"/>
          </p:nvPr>
        </p:nvSpPr>
        <p:spPr/>
        <p:txBody>
          <a:bodyPr/>
          <a:lstStyle/>
          <a:p>
            <a:r>
              <a:rPr lang="en-US" dirty="0"/>
              <a:t>General Updates</a:t>
            </a:r>
          </a:p>
        </p:txBody>
      </p:sp>
      <p:sp>
        <p:nvSpPr>
          <p:cNvPr id="3" name="Content Placeholder 2">
            <a:extLst>
              <a:ext uri="{FF2B5EF4-FFF2-40B4-BE49-F238E27FC236}">
                <a16:creationId xmlns:a16="http://schemas.microsoft.com/office/drawing/2014/main" id="{CEE345AD-A751-937F-9245-2DB5E1DF11E6}"/>
              </a:ext>
            </a:extLst>
          </p:cNvPr>
          <p:cNvSpPr>
            <a:spLocks noGrp="1"/>
          </p:cNvSpPr>
          <p:nvPr>
            <p:ph idx="1"/>
          </p:nvPr>
        </p:nvSpPr>
        <p:spPr/>
        <p:txBody>
          <a:bodyPr/>
          <a:lstStyle/>
          <a:p>
            <a:r>
              <a:rPr lang="en-US" strike="sngStrike" dirty="0"/>
              <a:t>Checked coverage and density calculation</a:t>
            </a:r>
          </a:p>
          <a:p>
            <a:r>
              <a:rPr lang="en-US" strike="sngStrike" dirty="0"/>
              <a:t>We set the scenario discovery for the top 3 drivers</a:t>
            </a:r>
          </a:p>
          <a:p>
            <a:r>
              <a:rPr lang="en-US" strike="sngStrike" dirty="0"/>
              <a:t>We use the auto threshold method using the quantile 50 value</a:t>
            </a:r>
          </a:p>
          <a:p>
            <a:r>
              <a:rPr lang="en-US" b="1" dirty="0"/>
              <a:t>Reduced the number of aggregations to train the random forest model</a:t>
            </a:r>
          </a:p>
          <a:p>
            <a:r>
              <a:rPr lang="en-US" dirty="0"/>
              <a:t>Updated the box cutoffs selection, prioritizing density</a:t>
            </a:r>
          </a:p>
          <a:p>
            <a:r>
              <a:rPr lang="en-US" dirty="0"/>
              <a:t>Updated the reports to add feature combination count and income level classification</a:t>
            </a:r>
          </a:p>
        </p:txBody>
      </p:sp>
    </p:spTree>
    <p:extLst>
      <p:ext uri="{BB962C8B-B14F-4D97-AF65-F5344CB8AC3E}">
        <p14:creationId xmlns:p14="http://schemas.microsoft.com/office/powerpoint/2010/main" val="25813509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BEBEFA-9820-5373-8F7C-ADE5B2EACE9D}"/>
              </a:ext>
            </a:extLst>
          </p:cNvPr>
          <p:cNvSpPr>
            <a:spLocks noGrp="1"/>
          </p:cNvSpPr>
          <p:nvPr>
            <p:ph type="title"/>
          </p:nvPr>
        </p:nvSpPr>
        <p:spPr>
          <a:xfrm>
            <a:off x="1001684" y="170412"/>
            <a:ext cx="10178934" cy="1328730"/>
          </a:xfrm>
        </p:spPr>
        <p:txBody>
          <a:bodyPr vert="horz" lIns="91440" tIns="45720" rIns="91440" bIns="45720" rtlCol="0" anchor="b">
            <a:normAutofit/>
          </a:bodyPr>
          <a:lstStyle/>
          <a:p>
            <a:pPr algn="ctr"/>
            <a:r>
              <a:rPr lang="en-US" sz="5200" kern="1200" dirty="0">
                <a:solidFill>
                  <a:schemeClr val="tx1"/>
                </a:solidFill>
                <a:latin typeface="+mj-lt"/>
                <a:ea typeface="+mj-ea"/>
                <a:cs typeface="+mj-cs"/>
              </a:rPr>
              <a:t>Using </a:t>
            </a:r>
            <a:r>
              <a:rPr lang="en-US" sz="5200" kern="1200" dirty="0" err="1">
                <a:solidFill>
                  <a:schemeClr val="tx1"/>
                </a:solidFill>
                <a:latin typeface="+mj-lt"/>
                <a:ea typeface="+mj-ea"/>
                <a:cs typeface="+mj-cs"/>
              </a:rPr>
              <a:t>pct_change</a:t>
            </a:r>
            <a:r>
              <a:rPr lang="en-US" sz="5200" kern="1200" dirty="0">
                <a:solidFill>
                  <a:schemeClr val="tx1"/>
                </a:solidFill>
                <a:latin typeface="+mj-lt"/>
                <a:ea typeface="+mj-ea"/>
                <a:cs typeface="+mj-cs"/>
              </a:rPr>
              <a:t> only is not great</a:t>
            </a:r>
          </a:p>
        </p:txBody>
      </p:sp>
      <p:pic>
        <p:nvPicPr>
          <p:cNvPr id="4" name="Content Placeholder 3">
            <a:extLst>
              <a:ext uri="{FF2B5EF4-FFF2-40B4-BE49-F238E27FC236}">
                <a16:creationId xmlns:a16="http://schemas.microsoft.com/office/drawing/2014/main" id="{C40F78A7-D627-4E0C-AC61-45D3F6E39F01}"/>
              </a:ext>
            </a:extLst>
          </p:cNvPr>
          <p:cNvPicPr>
            <a:picLocks noGrp="1" noChangeAspect="1"/>
          </p:cNvPicPr>
          <p:nvPr>
            <p:ph idx="1"/>
          </p:nvPr>
        </p:nvPicPr>
        <p:blipFill>
          <a:blip r:embed="rId2"/>
          <a:srcRect l="2292" t="4636" r="2" b="1"/>
          <a:stretch>
            <a:fillRect/>
          </a:stretch>
        </p:blipFill>
        <p:spPr>
          <a:xfrm>
            <a:off x="691111" y="2234939"/>
            <a:ext cx="5803323" cy="3710005"/>
          </a:xfrm>
          <a:prstGeom prst="rect">
            <a:avLst/>
          </a:prstGeom>
        </p:spPr>
      </p:pic>
      <p:pic>
        <p:nvPicPr>
          <p:cNvPr id="9" name="Picture 8">
            <a:extLst>
              <a:ext uri="{FF2B5EF4-FFF2-40B4-BE49-F238E27FC236}">
                <a16:creationId xmlns:a16="http://schemas.microsoft.com/office/drawing/2014/main" id="{3828B9B9-FE4C-F7AD-780D-67F4AB55DFA0}"/>
              </a:ext>
            </a:extLst>
          </p:cNvPr>
          <p:cNvPicPr>
            <a:picLocks noChangeAspect="1"/>
          </p:cNvPicPr>
          <p:nvPr/>
        </p:nvPicPr>
        <p:blipFill>
          <a:blip r:embed="rId3"/>
          <a:srcRect l="8652" t="4636" r="5945" b="-3"/>
          <a:stretch>
            <a:fillRect/>
          </a:stretch>
        </p:blipFill>
        <p:spPr>
          <a:xfrm>
            <a:off x="6331225" y="2234938"/>
            <a:ext cx="5803323" cy="3710005"/>
          </a:xfrm>
          <a:prstGeom prst="rect">
            <a:avLst/>
          </a:prstGeom>
        </p:spPr>
      </p:pic>
    </p:spTree>
    <p:extLst>
      <p:ext uri="{BB962C8B-B14F-4D97-AF65-F5344CB8AC3E}">
        <p14:creationId xmlns:p14="http://schemas.microsoft.com/office/powerpoint/2010/main" val="12286073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CAD0F-6DC1-654A-714C-39E715ED59F4}"/>
              </a:ext>
            </a:extLst>
          </p:cNvPr>
          <p:cNvSpPr>
            <a:spLocks noGrp="1"/>
          </p:cNvSpPr>
          <p:nvPr>
            <p:ph type="title"/>
          </p:nvPr>
        </p:nvSpPr>
        <p:spPr/>
        <p:txBody>
          <a:bodyPr/>
          <a:lstStyle/>
          <a:p>
            <a:r>
              <a:rPr lang="en-US" dirty="0"/>
              <a:t>Example of Japan using start, last, delta and </a:t>
            </a:r>
            <a:r>
              <a:rPr lang="en-US" dirty="0" err="1"/>
              <a:t>pct_change</a:t>
            </a:r>
            <a:endParaRPr lang="en-US" dirty="0"/>
          </a:p>
        </p:txBody>
      </p:sp>
      <p:pic>
        <p:nvPicPr>
          <p:cNvPr id="4" name="Content Placeholder 3">
            <a:extLst>
              <a:ext uri="{FF2B5EF4-FFF2-40B4-BE49-F238E27FC236}">
                <a16:creationId xmlns:a16="http://schemas.microsoft.com/office/drawing/2014/main" id="{1D083899-A0DE-877B-2C9E-CEC777E15AEE}"/>
              </a:ext>
            </a:extLst>
          </p:cNvPr>
          <p:cNvPicPr>
            <a:picLocks noGrp="1" noChangeAspect="1"/>
          </p:cNvPicPr>
          <p:nvPr>
            <p:ph idx="1"/>
          </p:nvPr>
        </p:nvPicPr>
        <p:blipFill>
          <a:blip r:embed="rId2"/>
          <a:stretch>
            <a:fillRect/>
          </a:stretch>
        </p:blipFill>
        <p:spPr>
          <a:xfrm>
            <a:off x="838200" y="2491929"/>
            <a:ext cx="10515600" cy="3018729"/>
          </a:xfrm>
          <a:prstGeom prst="rect">
            <a:avLst/>
          </a:prstGeom>
        </p:spPr>
      </p:pic>
    </p:spTree>
    <p:extLst>
      <p:ext uri="{BB962C8B-B14F-4D97-AF65-F5344CB8AC3E}">
        <p14:creationId xmlns:p14="http://schemas.microsoft.com/office/powerpoint/2010/main" val="5153754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482A8-A81F-33E2-4F8B-18E6479FE7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12C49F-1AC5-88A2-63A3-C7EFB0A17E90}"/>
              </a:ext>
            </a:extLst>
          </p:cNvPr>
          <p:cNvSpPr>
            <a:spLocks noGrp="1"/>
          </p:cNvSpPr>
          <p:nvPr>
            <p:ph type="title"/>
          </p:nvPr>
        </p:nvSpPr>
        <p:spPr/>
        <p:txBody>
          <a:bodyPr/>
          <a:lstStyle/>
          <a:p>
            <a:r>
              <a:rPr lang="en-US" dirty="0"/>
              <a:t>General Updates</a:t>
            </a:r>
          </a:p>
        </p:txBody>
      </p:sp>
      <p:sp>
        <p:nvSpPr>
          <p:cNvPr id="3" name="Content Placeholder 2">
            <a:extLst>
              <a:ext uri="{FF2B5EF4-FFF2-40B4-BE49-F238E27FC236}">
                <a16:creationId xmlns:a16="http://schemas.microsoft.com/office/drawing/2014/main" id="{5C787C6D-8FBE-4B91-5720-8168A9041CD1}"/>
              </a:ext>
            </a:extLst>
          </p:cNvPr>
          <p:cNvSpPr>
            <a:spLocks noGrp="1"/>
          </p:cNvSpPr>
          <p:nvPr>
            <p:ph idx="1"/>
          </p:nvPr>
        </p:nvSpPr>
        <p:spPr/>
        <p:txBody>
          <a:bodyPr/>
          <a:lstStyle/>
          <a:p>
            <a:r>
              <a:rPr lang="en-US" strike="sngStrike" dirty="0"/>
              <a:t>Checked coverage and density calculation</a:t>
            </a:r>
          </a:p>
          <a:p>
            <a:r>
              <a:rPr lang="en-US" strike="sngStrike" dirty="0"/>
              <a:t>We set the scenario discovery for the top 3 drivers</a:t>
            </a:r>
          </a:p>
          <a:p>
            <a:r>
              <a:rPr lang="en-US" strike="sngStrike" dirty="0"/>
              <a:t>We use the auto threshold method using the quantile 50 value</a:t>
            </a:r>
          </a:p>
          <a:p>
            <a:r>
              <a:rPr lang="en-US" strike="sngStrike" dirty="0"/>
              <a:t>Reduced the number of aggregations to train the random forest model</a:t>
            </a:r>
          </a:p>
          <a:p>
            <a:r>
              <a:rPr lang="en-US" b="1" dirty="0"/>
              <a:t>Updated the box cutoffs selection, prioritizing density</a:t>
            </a:r>
          </a:p>
          <a:p>
            <a:r>
              <a:rPr lang="en-US" dirty="0"/>
              <a:t>Updated the reports to add feature combination count and income level classification</a:t>
            </a:r>
          </a:p>
        </p:txBody>
      </p:sp>
    </p:spTree>
    <p:extLst>
      <p:ext uri="{BB962C8B-B14F-4D97-AF65-F5344CB8AC3E}">
        <p14:creationId xmlns:p14="http://schemas.microsoft.com/office/powerpoint/2010/main" val="42728968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A90DC97-3CD6-BB38-3E0F-72E646F90330}"/>
              </a:ext>
            </a:extLst>
          </p:cNvPr>
          <p:cNvSpPr>
            <a:spLocks noGrp="1"/>
          </p:cNvSpPr>
          <p:nvPr>
            <p:ph type="title"/>
          </p:nvPr>
        </p:nvSpPr>
        <p:spPr/>
        <p:txBody>
          <a:bodyPr/>
          <a:lstStyle/>
          <a:p>
            <a:r>
              <a:rPr lang="en-US" dirty="0"/>
              <a:t>New selection method</a:t>
            </a:r>
          </a:p>
        </p:txBody>
      </p:sp>
      <p:pic>
        <p:nvPicPr>
          <p:cNvPr id="4" name="Content Placeholder 3">
            <a:extLst>
              <a:ext uri="{FF2B5EF4-FFF2-40B4-BE49-F238E27FC236}">
                <a16:creationId xmlns:a16="http://schemas.microsoft.com/office/drawing/2014/main" id="{E721FC64-5C10-76E7-607F-CAA288FD6DBB}"/>
              </a:ext>
            </a:extLst>
          </p:cNvPr>
          <p:cNvPicPr>
            <a:picLocks noGrp="1" noChangeAspect="1"/>
          </p:cNvPicPr>
          <p:nvPr>
            <p:ph sz="half" idx="1"/>
          </p:nvPr>
        </p:nvPicPr>
        <p:blipFill>
          <a:blip r:embed="rId2"/>
          <a:stretch>
            <a:fillRect/>
          </a:stretch>
        </p:blipFill>
        <p:spPr>
          <a:xfrm>
            <a:off x="6096000" y="2213350"/>
            <a:ext cx="5181600" cy="3869802"/>
          </a:xfrm>
          <a:prstGeom prst="rect">
            <a:avLst/>
          </a:prstGeom>
        </p:spPr>
      </p:pic>
      <p:pic>
        <p:nvPicPr>
          <p:cNvPr id="8" name="Content Placeholder 3">
            <a:extLst>
              <a:ext uri="{FF2B5EF4-FFF2-40B4-BE49-F238E27FC236}">
                <a16:creationId xmlns:a16="http://schemas.microsoft.com/office/drawing/2014/main" id="{A66592AF-B650-33F3-CFC6-830C72AF89D2}"/>
              </a:ext>
            </a:extLst>
          </p:cNvPr>
          <p:cNvPicPr>
            <a:picLocks noGrp="1" noChangeAspect="1"/>
          </p:cNvPicPr>
          <p:nvPr>
            <p:ph sz="half" idx="2"/>
          </p:nvPr>
        </p:nvPicPr>
        <p:blipFill>
          <a:blip r:embed="rId3"/>
          <a:stretch>
            <a:fillRect/>
          </a:stretch>
        </p:blipFill>
        <p:spPr>
          <a:xfrm>
            <a:off x="620486" y="2213350"/>
            <a:ext cx="5181600" cy="3869802"/>
          </a:xfrm>
          <a:prstGeom prst="rect">
            <a:avLst/>
          </a:prstGeom>
        </p:spPr>
      </p:pic>
    </p:spTree>
    <p:extLst>
      <p:ext uri="{BB962C8B-B14F-4D97-AF65-F5344CB8AC3E}">
        <p14:creationId xmlns:p14="http://schemas.microsoft.com/office/powerpoint/2010/main" val="23168437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3831F5-5E0F-331A-2DC8-B3A2D86D1EE5}"/>
              </a:ext>
            </a:extLst>
          </p:cNvPr>
          <p:cNvSpPr>
            <a:spLocks noGrp="1"/>
          </p:cNvSpPr>
          <p:nvPr>
            <p:ph type="title"/>
          </p:nvPr>
        </p:nvSpPr>
        <p:spPr/>
        <p:txBody>
          <a:bodyPr/>
          <a:lstStyle/>
          <a:p>
            <a:r>
              <a:rPr lang="en-US" dirty="0"/>
              <a:t>Example: MEX</a:t>
            </a:r>
          </a:p>
        </p:txBody>
      </p:sp>
      <p:pic>
        <p:nvPicPr>
          <p:cNvPr id="7" name="Content Placeholder 6">
            <a:extLst>
              <a:ext uri="{FF2B5EF4-FFF2-40B4-BE49-F238E27FC236}">
                <a16:creationId xmlns:a16="http://schemas.microsoft.com/office/drawing/2014/main" id="{C198A0A7-ED19-2BFA-9F0D-C62B2E95783E}"/>
              </a:ext>
            </a:extLst>
          </p:cNvPr>
          <p:cNvPicPr>
            <a:picLocks noGrp="1" noChangeAspect="1"/>
          </p:cNvPicPr>
          <p:nvPr>
            <p:ph idx="1"/>
          </p:nvPr>
        </p:nvPicPr>
        <p:blipFill>
          <a:blip r:embed="rId2"/>
          <a:stretch>
            <a:fillRect/>
          </a:stretch>
        </p:blipFill>
        <p:spPr>
          <a:xfrm>
            <a:off x="838200" y="2488575"/>
            <a:ext cx="10515600" cy="3025437"/>
          </a:xfrm>
          <a:prstGeom prst="rect">
            <a:avLst/>
          </a:prstGeom>
        </p:spPr>
      </p:pic>
    </p:spTree>
    <p:extLst>
      <p:ext uri="{BB962C8B-B14F-4D97-AF65-F5344CB8AC3E}">
        <p14:creationId xmlns:p14="http://schemas.microsoft.com/office/powerpoint/2010/main" val="24829455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5301D-4494-4B58-D516-BA7A80EFB1F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6A1EBA8-F50C-D63D-406C-0CFE9BF7B8E2}"/>
              </a:ext>
            </a:extLst>
          </p:cNvPr>
          <p:cNvSpPr>
            <a:spLocks noGrp="1"/>
          </p:cNvSpPr>
          <p:nvPr>
            <p:ph type="title"/>
          </p:nvPr>
        </p:nvSpPr>
        <p:spPr/>
        <p:txBody>
          <a:bodyPr/>
          <a:lstStyle/>
          <a:p>
            <a:r>
              <a:rPr lang="en-US" dirty="0"/>
              <a:t>Example: USA</a:t>
            </a:r>
          </a:p>
        </p:txBody>
      </p:sp>
      <p:pic>
        <p:nvPicPr>
          <p:cNvPr id="6" name="Content Placeholder 5">
            <a:extLst>
              <a:ext uri="{FF2B5EF4-FFF2-40B4-BE49-F238E27FC236}">
                <a16:creationId xmlns:a16="http://schemas.microsoft.com/office/drawing/2014/main" id="{44DE1FCF-7F26-98F6-9D28-0585DE0E5633}"/>
              </a:ext>
            </a:extLst>
          </p:cNvPr>
          <p:cNvPicPr>
            <a:picLocks noGrp="1" noChangeAspect="1"/>
          </p:cNvPicPr>
          <p:nvPr>
            <p:ph idx="1"/>
          </p:nvPr>
        </p:nvPicPr>
        <p:blipFill>
          <a:blip r:embed="rId2"/>
          <a:stretch>
            <a:fillRect/>
          </a:stretch>
        </p:blipFill>
        <p:spPr>
          <a:xfrm>
            <a:off x="838200" y="2494983"/>
            <a:ext cx="10515600" cy="3012621"/>
          </a:xfrm>
          <a:prstGeom prst="rect">
            <a:avLst/>
          </a:prstGeom>
        </p:spPr>
      </p:pic>
    </p:spTree>
    <p:extLst>
      <p:ext uri="{BB962C8B-B14F-4D97-AF65-F5344CB8AC3E}">
        <p14:creationId xmlns:p14="http://schemas.microsoft.com/office/powerpoint/2010/main" val="26619945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7F99D-D98D-AF90-CF05-0AD10B6A0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CFEEE-F9B0-FA24-3275-E8EE07849A54}"/>
              </a:ext>
            </a:extLst>
          </p:cNvPr>
          <p:cNvSpPr>
            <a:spLocks noGrp="1"/>
          </p:cNvSpPr>
          <p:nvPr>
            <p:ph type="title"/>
          </p:nvPr>
        </p:nvSpPr>
        <p:spPr/>
        <p:txBody>
          <a:bodyPr/>
          <a:lstStyle/>
          <a:p>
            <a:r>
              <a:rPr lang="en-US" dirty="0"/>
              <a:t>Example: JPN</a:t>
            </a:r>
          </a:p>
        </p:txBody>
      </p:sp>
      <p:pic>
        <p:nvPicPr>
          <p:cNvPr id="4" name="Content Placeholder 3">
            <a:extLst>
              <a:ext uri="{FF2B5EF4-FFF2-40B4-BE49-F238E27FC236}">
                <a16:creationId xmlns:a16="http://schemas.microsoft.com/office/drawing/2014/main" id="{DD127FF6-3F56-592A-8639-1A5D048E9DDE}"/>
              </a:ext>
            </a:extLst>
          </p:cNvPr>
          <p:cNvPicPr>
            <a:picLocks noGrp="1" noChangeAspect="1"/>
          </p:cNvPicPr>
          <p:nvPr>
            <p:ph idx="1"/>
          </p:nvPr>
        </p:nvPicPr>
        <p:blipFill>
          <a:blip r:embed="rId2"/>
          <a:stretch>
            <a:fillRect/>
          </a:stretch>
        </p:blipFill>
        <p:spPr>
          <a:xfrm>
            <a:off x="838200" y="2491929"/>
            <a:ext cx="10515600" cy="3018729"/>
          </a:xfrm>
          <a:prstGeom prst="rect">
            <a:avLst/>
          </a:prstGeom>
        </p:spPr>
      </p:pic>
    </p:spTree>
    <p:extLst>
      <p:ext uri="{BB962C8B-B14F-4D97-AF65-F5344CB8AC3E}">
        <p14:creationId xmlns:p14="http://schemas.microsoft.com/office/powerpoint/2010/main" val="1308639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AD389-3D1F-9FC4-1154-F3A2DC7D8F03}"/>
              </a:ext>
            </a:extLst>
          </p:cNvPr>
          <p:cNvSpPr>
            <a:spLocks noGrp="1"/>
          </p:cNvSpPr>
          <p:nvPr>
            <p:ph type="title"/>
          </p:nvPr>
        </p:nvSpPr>
        <p:spPr/>
        <p:txBody>
          <a:bodyPr/>
          <a:lstStyle/>
          <a:p>
            <a:r>
              <a:rPr lang="en-US" dirty="0"/>
              <a:t>Stats about the new cutoff selection method</a:t>
            </a:r>
          </a:p>
        </p:txBody>
      </p:sp>
      <p:graphicFrame>
        <p:nvGraphicFramePr>
          <p:cNvPr id="5" name="Content Placeholder 4">
            <a:extLst>
              <a:ext uri="{FF2B5EF4-FFF2-40B4-BE49-F238E27FC236}">
                <a16:creationId xmlns:a16="http://schemas.microsoft.com/office/drawing/2014/main" id="{E7EAF22E-EA39-B7F5-BF49-45AAEB8F2199}"/>
              </a:ext>
            </a:extLst>
          </p:cNvPr>
          <p:cNvGraphicFramePr>
            <a:graphicFrameLocks noGrp="1"/>
          </p:cNvGraphicFramePr>
          <p:nvPr>
            <p:ph idx="1"/>
            <p:extLst>
              <p:ext uri="{D42A27DB-BD31-4B8C-83A1-F6EECF244321}">
                <p14:modId xmlns:p14="http://schemas.microsoft.com/office/powerpoint/2010/main" val="3960901868"/>
              </p:ext>
            </p:extLst>
          </p:nvPr>
        </p:nvGraphicFramePr>
        <p:xfrm>
          <a:off x="3467100" y="2548987"/>
          <a:ext cx="5257800" cy="1760026"/>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302534791"/>
                    </a:ext>
                  </a:extLst>
                </a:gridCol>
              </a:tblGrid>
              <a:tr h="880013">
                <a:tc>
                  <a:txBody>
                    <a:bodyPr/>
                    <a:lstStyle/>
                    <a:p>
                      <a:r>
                        <a:rPr lang="en-US" dirty="0"/>
                        <a:t>% of countries where the density is above 60%</a:t>
                      </a:r>
                    </a:p>
                  </a:txBody>
                  <a:tcPr/>
                </a:tc>
                <a:extLst>
                  <a:ext uri="{0D108BD9-81ED-4DB2-BD59-A6C34878D82A}">
                    <a16:rowId xmlns:a16="http://schemas.microsoft.com/office/drawing/2014/main" val="3640271875"/>
                  </a:ext>
                </a:extLst>
              </a:tr>
              <a:tr h="880013">
                <a:tc>
                  <a:txBody>
                    <a:bodyPr/>
                    <a:lstStyle/>
                    <a:p>
                      <a:r>
                        <a:rPr lang="en-US" dirty="0"/>
                        <a:t>100%</a:t>
                      </a:r>
                    </a:p>
                  </a:txBody>
                  <a:tcPr/>
                </a:tc>
                <a:extLst>
                  <a:ext uri="{0D108BD9-81ED-4DB2-BD59-A6C34878D82A}">
                    <a16:rowId xmlns:a16="http://schemas.microsoft.com/office/drawing/2014/main" val="3526290107"/>
                  </a:ext>
                </a:extLst>
              </a:tr>
            </a:tbl>
          </a:graphicData>
        </a:graphic>
      </p:graphicFrame>
    </p:spTree>
    <p:extLst>
      <p:ext uri="{BB962C8B-B14F-4D97-AF65-F5344CB8AC3E}">
        <p14:creationId xmlns:p14="http://schemas.microsoft.com/office/powerpoint/2010/main" val="22092560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DBE77-B866-E223-8B37-FD3C72170C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200C9-D34C-8E62-216D-2EACF2260072}"/>
              </a:ext>
            </a:extLst>
          </p:cNvPr>
          <p:cNvSpPr>
            <a:spLocks noGrp="1"/>
          </p:cNvSpPr>
          <p:nvPr>
            <p:ph type="title"/>
          </p:nvPr>
        </p:nvSpPr>
        <p:spPr/>
        <p:txBody>
          <a:bodyPr/>
          <a:lstStyle/>
          <a:p>
            <a:r>
              <a:rPr lang="en-US" dirty="0"/>
              <a:t>General Updates</a:t>
            </a:r>
          </a:p>
        </p:txBody>
      </p:sp>
      <p:sp>
        <p:nvSpPr>
          <p:cNvPr id="3" name="Content Placeholder 2">
            <a:extLst>
              <a:ext uri="{FF2B5EF4-FFF2-40B4-BE49-F238E27FC236}">
                <a16:creationId xmlns:a16="http://schemas.microsoft.com/office/drawing/2014/main" id="{90844EA8-5C3E-195D-D5F1-7F859E291360}"/>
              </a:ext>
            </a:extLst>
          </p:cNvPr>
          <p:cNvSpPr>
            <a:spLocks noGrp="1"/>
          </p:cNvSpPr>
          <p:nvPr>
            <p:ph idx="1"/>
          </p:nvPr>
        </p:nvSpPr>
        <p:spPr/>
        <p:txBody>
          <a:bodyPr/>
          <a:lstStyle/>
          <a:p>
            <a:r>
              <a:rPr lang="en-US" strike="sngStrike" dirty="0"/>
              <a:t>Checked coverage and density calculation</a:t>
            </a:r>
          </a:p>
          <a:p>
            <a:r>
              <a:rPr lang="en-US" strike="sngStrike" dirty="0"/>
              <a:t>We set the scenario discovery for the top 3 drivers</a:t>
            </a:r>
          </a:p>
          <a:p>
            <a:r>
              <a:rPr lang="en-US" strike="sngStrike" dirty="0"/>
              <a:t>We use the auto threshold method using the quantile 50 value</a:t>
            </a:r>
          </a:p>
          <a:p>
            <a:r>
              <a:rPr lang="en-US" strike="sngStrike" dirty="0"/>
              <a:t>Reduced the number of aggregations to train the random forest model</a:t>
            </a:r>
          </a:p>
          <a:p>
            <a:r>
              <a:rPr lang="en-US" strike="sngStrike" dirty="0"/>
              <a:t>Updated the box cutoffs selection, prioritizing density</a:t>
            </a:r>
          </a:p>
          <a:p>
            <a:r>
              <a:rPr lang="en-US" b="1" dirty="0"/>
              <a:t>Updated the reports to add feature combination count and income level classification</a:t>
            </a:r>
          </a:p>
        </p:txBody>
      </p:sp>
    </p:spTree>
    <p:extLst>
      <p:ext uri="{BB962C8B-B14F-4D97-AF65-F5344CB8AC3E}">
        <p14:creationId xmlns:p14="http://schemas.microsoft.com/office/powerpoint/2010/main" val="5363881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37FFF-4AFB-08EF-A5A9-481B7DADC377}"/>
              </a:ext>
            </a:extLst>
          </p:cNvPr>
          <p:cNvSpPr>
            <a:spLocks noGrp="1"/>
          </p:cNvSpPr>
          <p:nvPr>
            <p:ph type="title"/>
          </p:nvPr>
        </p:nvSpPr>
        <p:spPr/>
        <p:txBody>
          <a:bodyPr/>
          <a:lstStyle/>
          <a:p>
            <a:r>
              <a:rPr lang="en-US" dirty="0"/>
              <a:t>New Feature Combination Table</a:t>
            </a:r>
          </a:p>
        </p:txBody>
      </p:sp>
      <p:pic>
        <p:nvPicPr>
          <p:cNvPr id="4" name="Content Placeholder 3">
            <a:extLst>
              <a:ext uri="{FF2B5EF4-FFF2-40B4-BE49-F238E27FC236}">
                <a16:creationId xmlns:a16="http://schemas.microsoft.com/office/drawing/2014/main" id="{4B38F597-E76F-0D7F-0C9E-C71806243123}"/>
              </a:ext>
            </a:extLst>
          </p:cNvPr>
          <p:cNvPicPr>
            <a:picLocks noGrp="1" noChangeAspect="1"/>
          </p:cNvPicPr>
          <p:nvPr>
            <p:ph idx="1"/>
          </p:nvPr>
        </p:nvPicPr>
        <p:blipFill>
          <a:blip r:embed="rId2"/>
          <a:stretch>
            <a:fillRect/>
          </a:stretch>
        </p:blipFill>
        <p:spPr>
          <a:xfrm>
            <a:off x="838200" y="3054214"/>
            <a:ext cx="10515600" cy="1894160"/>
          </a:xfrm>
          <a:prstGeom prst="rect">
            <a:avLst/>
          </a:prstGeom>
        </p:spPr>
      </p:pic>
    </p:spTree>
    <p:extLst>
      <p:ext uri="{BB962C8B-B14F-4D97-AF65-F5344CB8AC3E}">
        <p14:creationId xmlns:p14="http://schemas.microsoft.com/office/powerpoint/2010/main" val="22443211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D88AA-B740-5231-A4DB-6C2FE8452C96}"/>
              </a:ext>
            </a:extLst>
          </p:cNvPr>
          <p:cNvSpPr>
            <a:spLocks noGrp="1"/>
          </p:cNvSpPr>
          <p:nvPr>
            <p:ph type="title"/>
          </p:nvPr>
        </p:nvSpPr>
        <p:spPr/>
        <p:txBody>
          <a:bodyPr/>
          <a:lstStyle/>
          <a:p>
            <a:r>
              <a:rPr lang="en-US" dirty="0"/>
              <a:t>Added Income Level Classification</a:t>
            </a:r>
          </a:p>
        </p:txBody>
      </p:sp>
      <p:pic>
        <p:nvPicPr>
          <p:cNvPr id="4" name="Content Placeholder 3">
            <a:extLst>
              <a:ext uri="{FF2B5EF4-FFF2-40B4-BE49-F238E27FC236}">
                <a16:creationId xmlns:a16="http://schemas.microsoft.com/office/drawing/2014/main" id="{3E37E2CE-9F27-9D45-A820-9947FFBD597B}"/>
              </a:ext>
            </a:extLst>
          </p:cNvPr>
          <p:cNvPicPr>
            <a:picLocks noGrp="1" noChangeAspect="1"/>
          </p:cNvPicPr>
          <p:nvPr>
            <p:ph idx="1"/>
          </p:nvPr>
        </p:nvPicPr>
        <p:blipFill>
          <a:blip r:embed="rId2"/>
          <a:stretch>
            <a:fillRect/>
          </a:stretch>
        </p:blipFill>
        <p:spPr>
          <a:xfrm>
            <a:off x="838200" y="2467188"/>
            <a:ext cx="10515600" cy="3068212"/>
          </a:xfrm>
          <a:prstGeom prst="rect">
            <a:avLst/>
          </a:prstGeom>
        </p:spPr>
      </p:pic>
    </p:spTree>
    <p:extLst>
      <p:ext uri="{BB962C8B-B14F-4D97-AF65-F5344CB8AC3E}">
        <p14:creationId xmlns:p14="http://schemas.microsoft.com/office/powerpoint/2010/main" val="8580753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0E18A-40B1-676B-63A4-5CC11CA1BDA7}"/>
              </a:ext>
            </a:extLst>
          </p:cNvPr>
          <p:cNvSpPr>
            <a:spLocks noGrp="1"/>
          </p:cNvSpPr>
          <p:nvPr>
            <p:ph type="title"/>
          </p:nvPr>
        </p:nvSpPr>
        <p:spPr/>
        <p:txBody>
          <a:bodyPr/>
          <a:lstStyle/>
          <a:p>
            <a:r>
              <a:rPr lang="en-US" dirty="0"/>
              <a:t>Let’s check the tables</a:t>
            </a:r>
          </a:p>
        </p:txBody>
      </p:sp>
      <p:sp>
        <p:nvSpPr>
          <p:cNvPr id="3" name="Text Placeholder 2">
            <a:extLst>
              <a:ext uri="{FF2B5EF4-FFF2-40B4-BE49-F238E27FC236}">
                <a16:creationId xmlns:a16="http://schemas.microsoft.com/office/drawing/2014/main" id="{C665A429-7BBA-50A6-AAAD-6BC92E1E3D9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071961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CB180-340E-E4B4-4C04-32D745DC4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1965D-11EC-8066-6736-FAAEE2FF587A}"/>
              </a:ext>
            </a:extLst>
          </p:cNvPr>
          <p:cNvSpPr>
            <a:spLocks noGrp="1"/>
          </p:cNvSpPr>
          <p:nvPr>
            <p:ph type="title"/>
          </p:nvPr>
        </p:nvSpPr>
        <p:spPr/>
        <p:txBody>
          <a:bodyPr/>
          <a:lstStyle/>
          <a:p>
            <a:r>
              <a:rPr lang="en-US" dirty="0"/>
              <a:t>Update April 27th</a:t>
            </a:r>
          </a:p>
        </p:txBody>
      </p:sp>
      <p:sp>
        <p:nvSpPr>
          <p:cNvPr id="3" name="Text Placeholder 2">
            <a:extLst>
              <a:ext uri="{FF2B5EF4-FFF2-40B4-BE49-F238E27FC236}">
                <a16:creationId xmlns:a16="http://schemas.microsoft.com/office/drawing/2014/main" id="{121D0B4D-FB64-E6F8-91A3-06B4CE8BEB36}"/>
              </a:ext>
            </a:extLst>
          </p:cNvPr>
          <p:cNvSpPr>
            <a:spLocks noGrp="1"/>
          </p:cNvSpPr>
          <p:nvPr>
            <p:ph type="body" idx="1"/>
          </p:nvPr>
        </p:nvSpPr>
        <p:spPr/>
        <p:txBody>
          <a:bodyPr/>
          <a:lstStyle/>
          <a:p>
            <a:r>
              <a:rPr lang="en-US" dirty="0"/>
              <a:t>Robustness Checks</a:t>
            </a:r>
          </a:p>
        </p:txBody>
      </p:sp>
    </p:spTree>
    <p:extLst>
      <p:ext uri="{BB962C8B-B14F-4D97-AF65-F5344CB8AC3E}">
        <p14:creationId xmlns:p14="http://schemas.microsoft.com/office/powerpoint/2010/main" val="37164503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F5C68-D7A6-975C-20C1-CABF299B07EA}"/>
              </a:ext>
            </a:extLst>
          </p:cNvPr>
          <p:cNvSpPr>
            <a:spLocks noGrp="1"/>
          </p:cNvSpPr>
          <p:nvPr>
            <p:ph type="title"/>
          </p:nvPr>
        </p:nvSpPr>
        <p:spPr/>
        <p:txBody>
          <a:bodyPr/>
          <a:lstStyle/>
          <a:p>
            <a:r>
              <a:rPr lang="en-US" dirty="0"/>
              <a:t>Robustness Check: Add Lags</a:t>
            </a:r>
          </a:p>
        </p:txBody>
      </p:sp>
      <p:sp>
        <p:nvSpPr>
          <p:cNvPr id="3" name="Text Placeholder 2">
            <a:extLst>
              <a:ext uri="{FF2B5EF4-FFF2-40B4-BE49-F238E27FC236}">
                <a16:creationId xmlns:a16="http://schemas.microsoft.com/office/drawing/2014/main" id="{0F786D51-527E-DD09-4729-1E7F2DA67E1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007489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859AA-898C-0D47-9FDD-868E4B66ADB4}"/>
              </a:ext>
            </a:extLst>
          </p:cNvPr>
          <p:cNvSpPr>
            <a:spLocks noGrp="1"/>
          </p:cNvSpPr>
          <p:nvPr>
            <p:ph type="title"/>
          </p:nvPr>
        </p:nvSpPr>
        <p:spPr/>
        <p:txBody>
          <a:bodyPr/>
          <a:lstStyle/>
          <a:p>
            <a:r>
              <a:rPr lang="en-US" dirty="0"/>
              <a:t>What did we add?</a:t>
            </a:r>
          </a:p>
        </p:txBody>
      </p:sp>
      <p:sp>
        <p:nvSpPr>
          <p:cNvPr id="3" name="Content Placeholder 2">
            <a:extLst>
              <a:ext uri="{FF2B5EF4-FFF2-40B4-BE49-F238E27FC236}">
                <a16:creationId xmlns:a16="http://schemas.microsoft.com/office/drawing/2014/main" id="{E6B31622-8402-D999-109D-7E0FB51CBC33}"/>
              </a:ext>
            </a:extLst>
          </p:cNvPr>
          <p:cNvSpPr>
            <a:spLocks noGrp="1"/>
          </p:cNvSpPr>
          <p:nvPr>
            <p:ph idx="1"/>
          </p:nvPr>
        </p:nvSpPr>
        <p:spPr/>
        <p:txBody>
          <a:bodyPr/>
          <a:lstStyle/>
          <a:p>
            <a:r>
              <a:rPr lang="en-US" dirty="0"/>
              <a:t>We added 1, 2, and 3 years lag to some incentive variables:</a:t>
            </a:r>
          </a:p>
          <a:p>
            <a:pPr lvl="1"/>
            <a:r>
              <a:rPr lang="en-US" dirty="0"/>
              <a:t>Has an efficiency standard</a:t>
            </a:r>
          </a:p>
          <a:p>
            <a:pPr lvl="1"/>
            <a:r>
              <a:rPr lang="en-US" dirty="0"/>
              <a:t>Has a renewable target</a:t>
            </a:r>
          </a:p>
          <a:p>
            <a:pPr lvl="1"/>
            <a:r>
              <a:rPr lang="en-US" dirty="0"/>
              <a:t>Has a carbon tax</a:t>
            </a:r>
          </a:p>
          <a:p>
            <a:pPr lvl="1"/>
            <a:r>
              <a:rPr lang="en-US" dirty="0"/>
              <a:t>Has ETS</a:t>
            </a:r>
          </a:p>
          <a:p>
            <a:pPr lvl="1"/>
            <a:r>
              <a:rPr lang="en-US" dirty="0"/>
              <a:t>Carbon pricing coverage</a:t>
            </a:r>
          </a:p>
          <a:p>
            <a:pPr lvl="1"/>
            <a:r>
              <a:rPr lang="en-US" dirty="0"/>
              <a:t>Number of climate laws</a:t>
            </a:r>
          </a:p>
        </p:txBody>
      </p:sp>
    </p:spTree>
    <p:extLst>
      <p:ext uri="{BB962C8B-B14F-4D97-AF65-F5344CB8AC3E}">
        <p14:creationId xmlns:p14="http://schemas.microsoft.com/office/powerpoint/2010/main" val="7478509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97AF8-3324-90E8-72F1-05E2E0715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B6D3B-6AE3-01C6-AF3D-AC472C6DBAC2}"/>
              </a:ext>
            </a:extLst>
          </p:cNvPr>
          <p:cNvSpPr>
            <a:spLocks noGrp="1"/>
          </p:cNvSpPr>
          <p:nvPr>
            <p:ph type="title"/>
          </p:nvPr>
        </p:nvSpPr>
        <p:spPr/>
        <p:txBody>
          <a:bodyPr/>
          <a:lstStyle/>
          <a:p>
            <a:r>
              <a:rPr lang="en-US" dirty="0"/>
              <a:t>Ablation Study Results</a:t>
            </a:r>
          </a:p>
        </p:txBody>
      </p:sp>
      <p:pic>
        <p:nvPicPr>
          <p:cNvPr id="7" name="Content Placeholder 6">
            <a:extLst>
              <a:ext uri="{FF2B5EF4-FFF2-40B4-BE49-F238E27FC236}">
                <a16:creationId xmlns:a16="http://schemas.microsoft.com/office/drawing/2014/main" id="{5D6E01E3-BD56-1D0E-44E6-CC4532870AD4}"/>
              </a:ext>
            </a:extLst>
          </p:cNvPr>
          <p:cNvPicPr>
            <a:picLocks noGrp="1" noChangeAspect="1"/>
          </p:cNvPicPr>
          <p:nvPr>
            <p:ph idx="1"/>
          </p:nvPr>
        </p:nvPicPr>
        <p:blipFill>
          <a:blip r:embed="rId2"/>
          <a:stretch>
            <a:fillRect/>
          </a:stretch>
        </p:blipFill>
        <p:spPr>
          <a:xfrm>
            <a:off x="3605928" y="1825625"/>
            <a:ext cx="4980144" cy="4351338"/>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1869889B-C6FD-756E-CC24-AB5A36BDC325}"/>
                  </a:ext>
                </a:extLst>
              </p14:cNvPr>
              <p14:cNvContentPartPr/>
              <p14:nvPr/>
            </p14:nvContentPartPr>
            <p14:xfrm>
              <a:off x="3757348" y="4180914"/>
              <a:ext cx="1744560" cy="41040"/>
            </p14:xfrm>
          </p:contentPart>
        </mc:Choice>
        <mc:Fallback xmlns="">
          <p:pic>
            <p:nvPicPr>
              <p:cNvPr id="8" name="Ink 7">
                <a:extLst>
                  <a:ext uri="{FF2B5EF4-FFF2-40B4-BE49-F238E27FC236}">
                    <a16:creationId xmlns:a16="http://schemas.microsoft.com/office/drawing/2014/main" id="{1869889B-C6FD-756E-CC24-AB5A36BDC325}"/>
                  </a:ext>
                </a:extLst>
              </p:cNvPr>
              <p:cNvPicPr/>
              <p:nvPr/>
            </p:nvPicPr>
            <p:blipFill>
              <a:blip r:embed="rId4"/>
              <a:stretch>
                <a:fillRect/>
              </a:stretch>
            </p:blipFill>
            <p:spPr>
              <a:xfrm>
                <a:off x="3721708" y="4108914"/>
                <a:ext cx="181620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48B7EFC2-649D-25FB-89EC-19E3BE14A91F}"/>
                  </a:ext>
                </a:extLst>
              </p14:cNvPr>
              <p14:cNvContentPartPr/>
              <p14:nvPr/>
            </p14:nvContentPartPr>
            <p14:xfrm>
              <a:off x="4554748" y="4373514"/>
              <a:ext cx="953280" cy="36360"/>
            </p14:xfrm>
          </p:contentPart>
        </mc:Choice>
        <mc:Fallback xmlns="">
          <p:pic>
            <p:nvPicPr>
              <p:cNvPr id="13" name="Ink 12">
                <a:extLst>
                  <a:ext uri="{FF2B5EF4-FFF2-40B4-BE49-F238E27FC236}">
                    <a16:creationId xmlns:a16="http://schemas.microsoft.com/office/drawing/2014/main" id="{48B7EFC2-649D-25FB-89EC-19E3BE14A91F}"/>
                  </a:ext>
                </a:extLst>
              </p:cNvPr>
              <p:cNvPicPr/>
              <p:nvPr/>
            </p:nvPicPr>
            <p:blipFill>
              <a:blip r:embed="rId6"/>
              <a:stretch>
                <a:fillRect/>
              </a:stretch>
            </p:blipFill>
            <p:spPr>
              <a:xfrm>
                <a:off x="4519108" y="4301514"/>
                <a:ext cx="10249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8BA132D6-DD81-C068-8474-998A17292522}"/>
                  </a:ext>
                </a:extLst>
              </p14:cNvPr>
              <p14:cNvContentPartPr/>
              <p14:nvPr/>
            </p14:nvContentPartPr>
            <p14:xfrm>
              <a:off x="4589668" y="4502394"/>
              <a:ext cx="968400" cy="50400"/>
            </p14:xfrm>
          </p:contentPart>
        </mc:Choice>
        <mc:Fallback xmlns="">
          <p:pic>
            <p:nvPicPr>
              <p:cNvPr id="14" name="Ink 13">
                <a:extLst>
                  <a:ext uri="{FF2B5EF4-FFF2-40B4-BE49-F238E27FC236}">
                    <a16:creationId xmlns:a16="http://schemas.microsoft.com/office/drawing/2014/main" id="{8BA132D6-DD81-C068-8474-998A17292522}"/>
                  </a:ext>
                </a:extLst>
              </p:cNvPr>
              <p:cNvPicPr/>
              <p:nvPr/>
            </p:nvPicPr>
            <p:blipFill>
              <a:blip r:embed="rId8"/>
              <a:stretch>
                <a:fillRect/>
              </a:stretch>
            </p:blipFill>
            <p:spPr>
              <a:xfrm>
                <a:off x="4554028" y="4430394"/>
                <a:ext cx="104004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9A0D89EA-1142-2DE3-9855-C63D98EEF739}"/>
                  </a:ext>
                </a:extLst>
              </p14:cNvPr>
              <p14:cNvContentPartPr/>
              <p14:nvPr/>
            </p14:nvContentPartPr>
            <p14:xfrm>
              <a:off x="4585708" y="4650354"/>
              <a:ext cx="916920" cy="15480"/>
            </p14:xfrm>
          </p:contentPart>
        </mc:Choice>
        <mc:Fallback xmlns="">
          <p:pic>
            <p:nvPicPr>
              <p:cNvPr id="15" name="Ink 14">
                <a:extLst>
                  <a:ext uri="{FF2B5EF4-FFF2-40B4-BE49-F238E27FC236}">
                    <a16:creationId xmlns:a16="http://schemas.microsoft.com/office/drawing/2014/main" id="{9A0D89EA-1142-2DE3-9855-C63D98EEF739}"/>
                  </a:ext>
                </a:extLst>
              </p:cNvPr>
              <p:cNvPicPr/>
              <p:nvPr/>
            </p:nvPicPr>
            <p:blipFill>
              <a:blip r:embed="rId10"/>
              <a:stretch>
                <a:fillRect/>
              </a:stretch>
            </p:blipFill>
            <p:spPr>
              <a:xfrm>
                <a:off x="4549708" y="4578354"/>
                <a:ext cx="9885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B0023A2B-F2D2-F699-6C6B-9AC8589C3708}"/>
                  </a:ext>
                </a:extLst>
              </p14:cNvPr>
              <p14:cNvContentPartPr/>
              <p14:nvPr/>
            </p14:nvContentPartPr>
            <p14:xfrm>
              <a:off x="3755188" y="4796514"/>
              <a:ext cx="1752120" cy="39240"/>
            </p14:xfrm>
          </p:contentPart>
        </mc:Choice>
        <mc:Fallback xmlns="">
          <p:pic>
            <p:nvPicPr>
              <p:cNvPr id="17" name="Ink 16">
                <a:extLst>
                  <a:ext uri="{FF2B5EF4-FFF2-40B4-BE49-F238E27FC236}">
                    <a16:creationId xmlns:a16="http://schemas.microsoft.com/office/drawing/2014/main" id="{B0023A2B-F2D2-F699-6C6B-9AC8589C3708}"/>
                  </a:ext>
                </a:extLst>
              </p:cNvPr>
              <p:cNvPicPr/>
              <p:nvPr/>
            </p:nvPicPr>
            <p:blipFill>
              <a:blip r:embed="rId12"/>
              <a:stretch>
                <a:fillRect/>
              </a:stretch>
            </p:blipFill>
            <p:spPr>
              <a:xfrm>
                <a:off x="3719188" y="4724874"/>
                <a:ext cx="1823760" cy="182880"/>
              </a:xfrm>
              <a:prstGeom prst="rect">
                <a:avLst/>
              </a:prstGeom>
            </p:spPr>
          </p:pic>
        </mc:Fallback>
      </mc:AlternateContent>
    </p:spTree>
    <p:extLst>
      <p:ext uri="{BB962C8B-B14F-4D97-AF65-F5344CB8AC3E}">
        <p14:creationId xmlns:p14="http://schemas.microsoft.com/office/powerpoint/2010/main" val="27380763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5869E-78EC-22A6-4B6A-E1DD168E7F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EC422-DD60-BC9B-6C89-E4C934840AE1}"/>
              </a:ext>
            </a:extLst>
          </p:cNvPr>
          <p:cNvSpPr>
            <a:spLocks noGrp="1"/>
          </p:cNvSpPr>
          <p:nvPr>
            <p:ph type="title"/>
          </p:nvPr>
        </p:nvSpPr>
        <p:spPr/>
        <p:txBody>
          <a:bodyPr/>
          <a:lstStyle/>
          <a:p>
            <a:r>
              <a:rPr lang="en-US" dirty="0"/>
              <a:t>Comparison Against Baseline</a:t>
            </a:r>
          </a:p>
        </p:txBody>
      </p:sp>
      <p:graphicFrame>
        <p:nvGraphicFramePr>
          <p:cNvPr id="4" name="Content Placeholder 3">
            <a:extLst>
              <a:ext uri="{FF2B5EF4-FFF2-40B4-BE49-F238E27FC236}">
                <a16:creationId xmlns:a16="http://schemas.microsoft.com/office/drawing/2014/main" id="{6D045C63-ACDB-AA05-D1EC-723E6688442A}"/>
              </a:ext>
            </a:extLst>
          </p:cNvPr>
          <p:cNvGraphicFramePr>
            <a:graphicFrameLocks noGrp="1"/>
          </p:cNvGraphicFramePr>
          <p:nvPr>
            <p:ph idx="1"/>
            <p:extLst>
              <p:ext uri="{D42A27DB-BD31-4B8C-83A1-F6EECF244321}">
                <p14:modId xmlns:p14="http://schemas.microsoft.com/office/powerpoint/2010/main" val="1903437380"/>
              </p:ext>
            </p:extLst>
          </p:nvPr>
        </p:nvGraphicFramePr>
        <p:xfrm>
          <a:off x="5275014" y="1100240"/>
          <a:ext cx="6172200" cy="11125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1695191581"/>
                    </a:ext>
                  </a:extLst>
                </a:gridCol>
                <a:gridCol w="2057400">
                  <a:extLst>
                    <a:ext uri="{9D8B030D-6E8A-4147-A177-3AD203B41FA5}">
                      <a16:colId xmlns:a16="http://schemas.microsoft.com/office/drawing/2014/main" val="3548406906"/>
                    </a:ext>
                  </a:extLst>
                </a:gridCol>
                <a:gridCol w="2057400">
                  <a:extLst>
                    <a:ext uri="{9D8B030D-6E8A-4147-A177-3AD203B41FA5}">
                      <a16:colId xmlns:a16="http://schemas.microsoft.com/office/drawing/2014/main" val="924271940"/>
                    </a:ext>
                  </a:extLst>
                </a:gridCol>
              </a:tblGrid>
              <a:tr h="370840">
                <a:tc>
                  <a:txBody>
                    <a:bodyPr/>
                    <a:lstStyle/>
                    <a:p>
                      <a:r>
                        <a:rPr lang="en-US" dirty="0"/>
                        <a:t>Model Version</a:t>
                      </a:r>
                    </a:p>
                  </a:txBody>
                  <a:tcPr/>
                </a:tc>
                <a:tc>
                  <a:txBody>
                    <a:bodyPr/>
                    <a:lstStyle/>
                    <a:p>
                      <a:r>
                        <a:rPr lang="en-US" dirty="0"/>
                        <a:t>Train MAE</a:t>
                      </a:r>
                    </a:p>
                  </a:txBody>
                  <a:tcPr/>
                </a:tc>
                <a:tc>
                  <a:txBody>
                    <a:bodyPr/>
                    <a:lstStyle/>
                    <a:p>
                      <a:r>
                        <a:rPr lang="en-US" dirty="0"/>
                        <a:t>Test MAE</a:t>
                      </a:r>
                    </a:p>
                  </a:txBody>
                  <a:tcPr/>
                </a:tc>
                <a:extLst>
                  <a:ext uri="{0D108BD9-81ED-4DB2-BD59-A6C34878D82A}">
                    <a16:rowId xmlns:a16="http://schemas.microsoft.com/office/drawing/2014/main" val="971136785"/>
                  </a:ext>
                </a:extLst>
              </a:tr>
              <a:tr h="370840">
                <a:tc>
                  <a:txBody>
                    <a:bodyPr/>
                    <a:lstStyle/>
                    <a:p>
                      <a:r>
                        <a:rPr lang="en-US" dirty="0"/>
                        <a:t>ENET Baseline</a:t>
                      </a:r>
                    </a:p>
                  </a:txBody>
                  <a:tcPr/>
                </a:tc>
                <a:tc>
                  <a:txBody>
                    <a:bodyPr/>
                    <a:lstStyle/>
                    <a:p>
                      <a:r>
                        <a:rPr lang="en-MX" sz="1800" b="0" i="0" kern="1200" dirty="0">
                          <a:solidFill>
                            <a:schemeClr val="dk1"/>
                          </a:solidFill>
                          <a:effectLst/>
                          <a:latin typeface="+mn-lt"/>
                          <a:ea typeface="+mn-ea"/>
                          <a:cs typeface="+mn-cs"/>
                        </a:rPr>
                        <a:t>11.99</a:t>
                      </a:r>
                      <a:endParaRPr lang="en-US" dirty="0"/>
                    </a:p>
                  </a:txBody>
                  <a:tcPr/>
                </a:tc>
                <a:tc>
                  <a:txBody>
                    <a:bodyPr/>
                    <a:lstStyle/>
                    <a:p>
                      <a:r>
                        <a:rPr lang="en-MX" sz="1800" b="0" i="0" kern="1200" dirty="0">
                          <a:solidFill>
                            <a:schemeClr val="dk1"/>
                          </a:solidFill>
                          <a:effectLst/>
                          <a:latin typeface="+mn-lt"/>
                          <a:ea typeface="+mn-ea"/>
                          <a:cs typeface="+mn-cs"/>
                        </a:rPr>
                        <a:t>16.99</a:t>
                      </a:r>
                      <a:endParaRPr lang="en-US" dirty="0"/>
                    </a:p>
                  </a:txBody>
                  <a:tcPr/>
                </a:tc>
                <a:extLst>
                  <a:ext uri="{0D108BD9-81ED-4DB2-BD59-A6C34878D82A}">
                    <a16:rowId xmlns:a16="http://schemas.microsoft.com/office/drawing/2014/main" val="1324549545"/>
                  </a:ext>
                </a:extLst>
              </a:tr>
              <a:tr h="370840">
                <a:tc>
                  <a:txBody>
                    <a:bodyPr/>
                    <a:lstStyle/>
                    <a:p>
                      <a:r>
                        <a:rPr lang="en-US" dirty="0"/>
                        <a:t>ENET with Lags</a:t>
                      </a:r>
                    </a:p>
                  </a:txBody>
                  <a:tcPr/>
                </a:tc>
                <a:tc>
                  <a:txBody>
                    <a:bodyPr/>
                    <a:lstStyle/>
                    <a:p>
                      <a:r>
                        <a:rPr lang="en-MX" sz="1800" b="0" i="0" kern="1200" dirty="0">
                          <a:solidFill>
                            <a:schemeClr val="dk1"/>
                          </a:solidFill>
                          <a:effectLst/>
                          <a:latin typeface="+mn-lt"/>
                          <a:ea typeface="+mn-ea"/>
                          <a:cs typeface="+mn-cs"/>
                        </a:rPr>
                        <a:t>11.87</a:t>
                      </a:r>
                      <a:endParaRPr lang="en-US" dirty="0"/>
                    </a:p>
                  </a:txBody>
                  <a:tcPr/>
                </a:tc>
                <a:tc>
                  <a:txBody>
                    <a:bodyPr/>
                    <a:lstStyle/>
                    <a:p>
                      <a:r>
                        <a:rPr lang="en-MX" sz="1800" b="0" i="0" kern="1200" dirty="0">
                          <a:solidFill>
                            <a:schemeClr val="dk1"/>
                          </a:solidFill>
                          <a:effectLst/>
                          <a:latin typeface="+mn-lt"/>
                          <a:ea typeface="+mn-ea"/>
                          <a:cs typeface="+mn-cs"/>
                        </a:rPr>
                        <a:t>16.73</a:t>
                      </a:r>
                      <a:endParaRPr lang="en-US" dirty="0"/>
                    </a:p>
                  </a:txBody>
                  <a:tcPr/>
                </a:tc>
                <a:extLst>
                  <a:ext uri="{0D108BD9-81ED-4DB2-BD59-A6C34878D82A}">
                    <a16:rowId xmlns:a16="http://schemas.microsoft.com/office/drawing/2014/main" val="2965041748"/>
                  </a:ext>
                </a:extLst>
              </a:tr>
            </a:tbl>
          </a:graphicData>
        </a:graphic>
      </p:graphicFrame>
      <p:sp>
        <p:nvSpPr>
          <p:cNvPr id="5" name="Text Placeholder 4">
            <a:extLst>
              <a:ext uri="{FF2B5EF4-FFF2-40B4-BE49-F238E27FC236}">
                <a16:creationId xmlns:a16="http://schemas.microsoft.com/office/drawing/2014/main" id="{8D8C254C-1117-8B29-44BD-A9282827DF66}"/>
              </a:ext>
            </a:extLst>
          </p:cNvPr>
          <p:cNvSpPr>
            <a:spLocks noGrp="1"/>
          </p:cNvSpPr>
          <p:nvPr>
            <p:ph type="body" sz="half" idx="2"/>
          </p:nvPr>
        </p:nvSpPr>
        <p:spPr/>
        <p:txBody>
          <a:bodyPr/>
          <a:lstStyle/>
          <a:p>
            <a:r>
              <a:rPr lang="en-US" dirty="0"/>
              <a:t>Very slight improvement in metrics. These lags might not help incentives to show up in the scenario discovery.</a:t>
            </a:r>
          </a:p>
        </p:txBody>
      </p:sp>
      <p:pic>
        <p:nvPicPr>
          <p:cNvPr id="6" name="Picture 5">
            <a:extLst>
              <a:ext uri="{FF2B5EF4-FFF2-40B4-BE49-F238E27FC236}">
                <a16:creationId xmlns:a16="http://schemas.microsoft.com/office/drawing/2014/main" id="{C380E3EB-E879-067B-DF2A-DE2795EA7E67}"/>
              </a:ext>
            </a:extLst>
          </p:cNvPr>
          <p:cNvPicPr>
            <a:picLocks noChangeAspect="1"/>
          </p:cNvPicPr>
          <p:nvPr/>
        </p:nvPicPr>
        <p:blipFill>
          <a:blip r:embed="rId2"/>
          <a:stretch>
            <a:fillRect/>
          </a:stretch>
        </p:blipFill>
        <p:spPr>
          <a:xfrm>
            <a:off x="6096000" y="2499755"/>
            <a:ext cx="4122717" cy="4122717"/>
          </a:xfrm>
          <a:prstGeom prst="rect">
            <a:avLst/>
          </a:prstGeom>
        </p:spPr>
      </p:pic>
    </p:spTree>
    <p:extLst>
      <p:ext uri="{BB962C8B-B14F-4D97-AF65-F5344CB8AC3E}">
        <p14:creationId xmlns:p14="http://schemas.microsoft.com/office/powerpoint/2010/main" val="26369487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44ACB-DE0F-ECAE-51D2-404368A1B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BF08B-8E39-3A9A-A519-B1FF9505661F}"/>
              </a:ext>
            </a:extLst>
          </p:cNvPr>
          <p:cNvSpPr>
            <a:spLocks noGrp="1"/>
          </p:cNvSpPr>
          <p:nvPr>
            <p:ph type="title"/>
          </p:nvPr>
        </p:nvSpPr>
        <p:spPr/>
        <p:txBody>
          <a:bodyPr/>
          <a:lstStyle/>
          <a:p>
            <a:r>
              <a:rPr lang="en-US" dirty="0"/>
              <a:t>Robustness Check: Policy Stringency Index</a:t>
            </a:r>
          </a:p>
        </p:txBody>
      </p:sp>
      <p:sp>
        <p:nvSpPr>
          <p:cNvPr id="3" name="Text Placeholder 2">
            <a:extLst>
              <a:ext uri="{FF2B5EF4-FFF2-40B4-BE49-F238E27FC236}">
                <a16:creationId xmlns:a16="http://schemas.microsoft.com/office/drawing/2014/main" id="{0CB33FC3-7A8D-286D-11B8-5A2B6077203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35997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5E6DA-065C-4630-C0C0-2754EB1BB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A1EDB-367F-65F6-18F7-A4876586A1CA}"/>
              </a:ext>
            </a:extLst>
          </p:cNvPr>
          <p:cNvSpPr>
            <a:spLocks noGrp="1"/>
          </p:cNvSpPr>
          <p:nvPr>
            <p:ph type="title"/>
          </p:nvPr>
        </p:nvSpPr>
        <p:spPr/>
        <p:txBody>
          <a:bodyPr/>
          <a:lstStyle/>
          <a:p>
            <a:r>
              <a:rPr lang="en-US" dirty="0"/>
              <a:t>What did we add?</a:t>
            </a:r>
          </a:p>
        </p:txBody>
      </p:sp>
      <p:sp>
        <p:nvSpPr>
          <p:cNvPr id="3" name="Content Placeholder 2">
            <a:extLst>
              <a:ext uri="{FF2B5EF4-FFF2-40B4-BE49-F238E27FC236}">
                <a16:creationId xmlns:a16="http://schemas.microsoft.com/office/drawing/2014/main" id="{01FD820B-6FD0-F08A-9B0B-F874A0BC8818}"/>
              </a:ext>
            </a:extLst>
          </p:cNvPr>
          <p:cNvSpPr>
            <a:spLocks noGrp="1"/>
          </p:cNvSpPr>
          <p:nvPr>
            <p:ph idx="1"/>
          </p:nvPr>
        </p:nvSpPr>
        <p:spPr/>
        <p:txBody>
          <a:bodyPr/>
          <a:lstStyle/>
          <a:p>
            <a:r>
              <a:rPr lang="en-US" dirty="0"/>
              <a:t>We added the aggregated version of the OECD Policy Stringency Index, plus some interaction features:</a:t>
            </a:r>
          </a:p>
          <a:p>
            <a:pPr lvl="1"/>
            <a:r>
              <a:rPr lang="en-US" dirty="0"/>
              <a:t>Policy stringency index (0-10)</a:t>
            </a:r>
          </a:p>
          <a:p>
            <a:pPr lvl="1"/>
            <a:r>
              <a:rPr lang="en-US" dirty="0"/>
              <a:t>Policy stringency index – government efficiency</a:t>
            </a:r>
          </a:p>
          <a:p>
            <a:pPr lvl="1"/>
            <a:r>
              <a:rPr lang="en-US" dirty="0"/>
              <a:t>Policy stringency index – corruption control</a:t>
            </a:r>
          </a:p>
          <a:p>
            <a:pPr lvl="1"/>
            <a:r>
              <a:rPr lang="en-US" dirty="0"/>
              <a:t>Policy stringency index – regulatory quality</a:t>
            </a:r>
          </a:p>
        </p:txBody>
      </p:sp>
    </p:spTree>
    <p:extLst>
      <p:ext uri="{BB962C8B-B14F-4D97-AF65-F5344CB8AC3E}">
        <p14:creationId xmlns:p14="http://schemas.microsoft.com/office/powerpoint/2010/main" val="26516812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560F5-126E-D0DA-A31A-84F73648F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9C30E-8860-F1AD-A42F-C3F3E4BD756C}"/>
              </a:ext>
            </a:extLst>
          </p:cNvPr>
          <p:cNvSpPr>
            <a:spLocks noGrp="1"/>
          </p:cNvSpPr>
          <p:nvPr>
            <p:ph type="title"/>
          </p:nvPr>
        </p:nvSpPr>
        <p:spPr/>
        <p:txBody>
          <a:bodyPr/>
          <a:lstStyle/>
          <a:p>
            <a:r>
              <a:rPr lang="en-US" dirty="0"/>
              <a:t>Ablation Study Results</a:t>
            </a:r>
          </a:p>
        </p:txBody>
      </p:sp>
      <p:pic>
        <p:nvPicPr>
          <p:cNvPr id="5" name="Content Placeholder 4">
            <a:extLst>
              <a:ext uri="{FF2B5EF4-FFF2-40B4-BE49-F238E27FC236}">
                <a16:creationId xmlns:a16="http://schemas.microsoft.com/office/drawing/2014/main" id="{1BF13285-5529-AB35-735C-9928C3572832}"/>
              </a:ext>
            </a:extLst>
          </p:cNvPr>
          <p:cNvPicPr>
            <a:picLocks noGrp="1" noChangeAspect="1"/>
          </p:cNvPicPr>
          <p:nvPr>
            <p:ph idx="1"/>
          </p:nvPr>
        </p:nvPicPr>
        <p:blipFill>
          <a:blip r:embed="rId2"/>
          <a:stretch>
            <a:fillRect/>
          </a:stretch>
        </p:blipFill>
        <p:spPr>
          <a:xfrm>
            <a:off x="3608443" y="1825625"/>
            <a:ext cx="4975113" cy="4351338"/>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B5DD19F9-11C1-D4F7-7945-0C24136684C7}"/>
                  </a:ext>
                </a:extLst>
              </p14:cNvPr>
              <p14:cNvContentPartPr/>
              <p14:nvPr/>
            </p14:nvContentPartPr>
            <p14:xfrm>
              <a:off x="4504348" y="4799754"/>
              <a:ext cx="879480" cy="18000"/>
            </p14:xfrm>
          </p:contentPart>
        </mc:Choice>
        <mc:Fallback xmlns="">
          <p:pic>
            <p:nvPicPr>
              <p:cNvPr id="6" name="Ink 5">
                <a:extLst>
                  <a:ext uri="{FF2B5EF4-FFF2-40B4-BE49-F238E27FC236}">
                    <a16:creationId xmlns:a16="http://schemas.microsoft.com/office/drawing/2014/main" id="{B5DD19F9-11C1-D4F7-7945-0C24136684C7}"/>
                  </a:ext>
                </a:extLst>
              </p:cNvPr>
              <p:cNvPicPr/>
              <p:nvPr/>
            </p:nvPicPr>
            <p:blipFill>
              <a:blip r:embed="rId4"/>
              <a:stretch>
                <a:fillRect/>
              </a:stretch>
            </p:blipFill>
            <p:spPr>
              <a:xfrm>
                <a:off x="4468348" y="4728114"/>
                <a:ext cx="95112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BA7CD726-DA9F-82CC-896E-DF85BDD982A4}"/>
                  </a:ext>
                </a:extLst>
              </p14:cNvPr>
              <p14:cNvContentPartPr/>
              <p14:nvPr/>
            </p14:nvContentPartPr>
            <p14:xfrm>
              <a:off x="4235788" y="4207194"/>
              <a:ext cx="1150200" cy="55800"/>
            </p14:xfrm>
          </p:contentPart>
        </mc:Choice>
        <mc:Fallback xmlns="">
          <p:pic>
            <p:nvPicPr>
              <p:cNvPr id="8" name="Ink 7">
                <a:extLst>
                  <a:ext uri="{FF2B5EF4-FFF2-40B4-BE49-F238E27FC236}">
                    <a16:creationId xmlns:a16="http://schemas.microsoft.com/office/drawing/2014/main" id="{BA7CD726-DA9F-82CC-896E-DF85BDD982A4}"/>
                  </a:ext>
                </a:extLst>
              </p:cNvPr>
              <p:cNvPicPr/>
              <p:nvPr/>
            </p:nvPicPr>
            <p:blipFill>
              <a:blip r:embed="rId6"/>
              <a:stretch>
                <a:fillRect/>
              </a:stretch>
            </p:blipFill>
            <p:spPr>
              <a:xfrm>
                <a:off x="4199788" y="4135554"/>
                <a:ext cx="1221840" cy="199440"/>
              </a:xfrm>
              <a:prstGeom prst="rect">
                <a:avLst/>
              </a:prstGeom>
            </p:spPr>
          </p:pic>
        </mc:Fallback>
      </mc:AlternateContent>
    </p:spTree>
    <p:extLst>
      <p:ext uri="{BB962C8B-B14F-4D97-AF65-F5344CB8AC3E}">
        <p14:creationId xmlns:p14="http://schemas.microsoft.com/office/powerpoint/2010/main" val="2830310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009F6-636A-905E-A4D8-D52259C40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298934-AD60-1411-E6A4-1A4168205D7B}"/>
              </a:ext>
            </a:extLst>
          </p:cNvPr>
          <p:cNvSpPr>
            <a:spLocks noGrp="1"/>
          </p:cNvSpPr>
          <p:nvPr>
            <p:ph type="title"/>
          </p:nvPr>
        </p:nvSpPr>
        <p:spPr/>
        <p:txBody>
          <a:bodyPr/>
          <a:lstStyle/>
          <a:p>
            <a:r>
              <a:rPr lang="en-US" dirty="0"/>
              <a:t>Comparison Against Baseline</a:t>
            </a:r>
          </a:p>
        </p:txBody>
      </p:sp>
      <p:graphicFrame>
        <p:nvGraphicFramePr>
          <p:cNvPr id="4" name="Content Placeholder 3">
            <a:extLst>
              <a:ext uri="{FF2B5EF4-FFF2-40B4-BE49-F238E27FC236}">
                <a16:creationId xmlns:a16="http://schemas.microsoft.com/office/drawing/2014/main" id="{081BAFDC-73AC-08C6-F6B2-5F16C5270CF4}"/>
              </a:ext>
            </a:extLst>
          </p:cNvPr>
          <p:cNvGraphicFramePr>
            <a:graphicFrameLocks noGrp="1"/>
          </p:cNvGraphicFramePr>
          <p:nvPr>
            <p:ph idx="1"/>
            <p:extLst>
              <p:ext uri="{D42A27DB-BD31-4B8C-83A1-F6EECF244321}">
                <p14:modId xmlns:p14="http://schemas.microsoft.com/office/powerpoint/2010/main" val="2535758147"/>
              </p:ext>
            </p:extLst>
          </p:nvPr>
        </p:nvGraphicFramePr>
        <p:xfrm>
          <a:off x="5275265" y="743980"/>
          <a:ext cx="6172200" cy="202184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1695191581"/>
                    </a:ext>
                  </a:extLst>
                </a:gridCol>
                <a:gridCol w="2057400">
                  <a:extLst>
                    <a:ext uri="{9D8B030D-6E8A-4147-A177-3AD203B41FA5}">
                      <a16:colId xmlns:a16="http://schemas.microsoft.com/office/drawing/2014/main" val="3548406906"/>
                    </a:ext>
                  </a:extLst>
                </a:gridCol>
                <a:gridCol w="2057400">
                  <a:extLst>
                    <a:ext uri="{9D8B030D-6E8A-4147-A177-3AD203B41FA5}">
                      <a16:colId xmlns:a16="http://schemas.microsoft.com/office/drawing/2014/main" val="924271940"/>
                    </a:ext>
                  </a:extLst>
                </a:gridCol>
              </a:tblGrid>
              <a:tr h="370840">
                <a:tc>
                  <a:txBody>
                    <a:bodyPr/>
                    <a:lstStyle/>
                    <a:p>
                      <a:r>
                        <a:rPr lang="en-US" dirty="0"/>
                        <a:t>Model Version</a:t>
                      </a:r>
                    </a:p>
                  </a:txBody>
                  <a:tcPr/>
                </a:tc>
                <a:tc>
                  <a:txBody>
                    <a:bodyPr/>
                    <a:lstStyle/>
                    <a:p>
                      <a:r>
                        <a:rPr lang="en-US" dirty="0"/>
                        <a:t>Train MAE</a:t>
                      </a:r>
                    </a:p>
                  </a:txBody>
                  <a:tcPr/>
                </a:tc>
                <a:tc>
                  <a:txBody>
                    <a:bodyPr/>
                    <a:lstStyle/>
                    <a:p>
                      <a:r>
                        <a:rPr lang="en-US" dirty="0"/>
                        <a:t>Test MAE</a:t>
                      </a:r>
                    </a:p>
                  </a:txBody>
                  <a:tcPr/>
                </a:tc>
                <a:extLst>
                  <a:ext uri="{0D108BD9-81ED-4DB2-BD59-A6C34878D82A}">
                    <a16:rowId xmlns:a16="http://schemas.microsoft.com/office/drawing/2014/main" val="971136785"/>
                  </a:ext>
                </a:extLst>
              </a:tr>
              <a:tr h="370840">
                <a:tc>
                  <a:txBody>
                    <a:bodyPr/>
                    <a:lstStyle/>
                    <a:p>
                      <a:r>
                        <a:rPr lang="en-US" dirty="0"/>
                        <a:t>ENET Baseline</a:t>
                      </a:r>
                    </a:p>
                  </a:txBody>
                  <a:tcPr/>
                </a:tc>
                <a:tc>
                  <a:txBody>
                    <a:bodyPr/>
                    <a:lstStyle/>
                    <a:p>
                      <a:r>
                        <a:rPr lang="en-MX" sz="1800" b="0" i="0" kern="1200" dirty="0">
                          <a:solidFill>
                            <a:schemeClr val="dk1"/>
                          </a:solidFill>
                          <a:effectLst/>
                          <a:latin typeface="+mn-lt"/>
                          <a:ea typeface="+mn-ea"/>
                          <a:cs typeface="+mn-cs"/>
                        </a:rPr>
                        <a:t>11.99</a:t>
                      </a:r>
                      <a:endParaRPr lang="en-US" dirty="0"/>
                    </a:p>
                  </a:txBody>
                  <a:tcPr/>
                </a:tc>
                <a:tc>
                  <a:txBody>
                    <a:bodyPr/>
                    <a:lstStyle/>
                    <a:p>
                      <a:r>
                        <a:rPr lang="en-MX" sz="1800" b="0" i="0" kern="1200" dirty="0">
                          <a:solidFill>
                            <a:schemeClr val="dk1"/>
                          </a:solidFill>
                          <a:effectLst/>
                          <a:latin typeface="+mn-lt"/>
                          <a:ea typeface="+mn-ea"/>
                          <a:cs typeface="+mn-cs"/>
                        </a:rPr>
                        <a:t>16.99</a:t>
                      </a:r>
                      <a:endParaRPr lang="en-US" dirty="0"/>
                    </a:p>
                  </a:txBody>
                  <a:tcPr/>
                </a:tc>
                <a:extLst>
                  <a:ext uri="{0D108BD9-81ED-4DB2-BD59-A6C34878D82A}">
                    <a16:rowId xmlns:a16="http://schemas.microsoft.com/office/drawing/2014/main" val="1324549545"/>
                  </a:ext>
                </a:extLst>
              </a:tr>
              <a:tr h="370840">
                <a:tc>
                  <a:txBody>
                    <a:bodyPr/>
                    <a:lstStyle/>
                    <a:p>
                      <a:r>
                        <a:rPr lang="en-US" dirty="0"/>
                        <a:t>ENET Baseline with OECD subset</a:t>
                      </a:r>
                    </a:p>
                  </a:txBody>
                  <a:tcPr/>
                </a:tc>
                <a:tc>
                  <a:txBody>
                    <a:bodyPr/>
                    <a:lstStyle/>
                    <a:p>
                      <a:r>
                        <a:rPr lang="en-US" dirty="0"/>
                        <a:t>17.39</a:t>
                      </a:r>
                    </a:p>
                  </a:txBody>
                  <a:tcPr/>
                </a:tc>
                <a:tc>
                  <a:txBody>
                    <a:bodyPr/>
                    <a:lstStyle/>
                    <a:p>
                      <a:r>
                        <a:rPr lang="en-US" dirty="0"/>
                        <a:t>26.17</a:t>
                      </a:r>
                    </a:p>
                  </a:txBody>
                  <a:tcPr/>
                </a:tc>
                <a:extLst>
                  <a:ext uri="{0D108BD9-81ED-4DB2-BD59-A6C34878D82A}">
                    <a16:rowId xmlns:a16="http://schemas.microsoft.com/office/drawing/2014/main" val="1063735016"/>
                  </a:ext>
                </a:extLst>
              </a:tr>
              <a:tr h="370840">
                <a:tc>
                  <a:txBody>
                    <a:bodyPr/>
                    <a:lstStyle/>
                    <a:p>
                      <a:r>
                        <a:rPr lang="en-US" dirty="0"/>
                        <a:t>ENET with Policy Index</a:t>
                      </a:r>
                    </a:p>
                  </a:txBody>
                  <a:tcPr/>
                </a:tc>
                <a:tc>
                  <a:txBody>
                    <a:bodyPr/>
                    <a:lstStyle/>
                    <a:p>
                      <a:r>
                        <a:rPr lang="en-MX" sz="1800" b="0" i="0" kern="1200" dirty="0">
                          <a:solidFill>
                            <a:schemeClr val="dk1"/>
                          </a:solidFill>
                          <a:effectLst/>
                          <a:latin typeface="+mn-lt"/>
                          <a:ea typeface="+mn-ea"/>
                          <a:cs typeface="+mn-cs"/>
                        </a:rPr>
                        <a:t>18.37</a:t>
                      </a:r>
                      <a:endParaRPr lang="en-US" dirty="0"/>
                    </a:p>
                  </a:txBody>
                  <a:tcPr/>
                </a:tc>
                <a:tc>
                  <a:txBody>
                    <a:bodyPr/>
                    <a:lstStyle/>
                    <a:p>
                      <a:r>
                        <a:rPr lang="en-MX" sz="1800" b="0" i="0" kern="1200" dirty="0">
                          <a:solidFill>
                            <a:schemeClr val="dk1"/>
                          </a:solidFill>
                          <a:effectLst/>
                          <a:latin typeface="+mn-lt"/>
                          <a:ea typeface="+mn-ea"/>
                          <a:cs typeface="+mn-cs"/>
                        </a:rPr>
                        <a:t>28.87</a:t>
                      </a:r>
                      <a:endParaRPr lang="en-US" dirty="0"/>
                    </a:p>
                  </a:txBody>
                  <a:tcPr/>
                </a:tc>
                <a:extLst>
                  <a:ext uri="{0D108BD9-81ED-4DB2-BD59-A6C34878D82A}">
                    <a16:rowId xmlns:a16="http://schemas.microsoft.com/office/drawing/2014/main" val="2965041748"/>
                  </a:ext>
                </a:extLst>
              </a:tr>
            </a:tbl>
          </a:graphicData>
        </a:graphic>
      </p:graphicFrame>
      <p:sp>
        <p:nvSpPr>
          <p:cNvPr id="5" name="Text Placeholder 4">
            <a:extLst>
              <a:ext uri="{FF2B5EF4-FFF2-40B4-BE49-F238E27FC236}">
                <a16:creationId xmlns:a16="http://schemas.microsoft.com/office/drawing/2014/main" id="{87D31A89-6F8E-23A3-F1F7-C54C6381E1EB}"/>
              </a:ext>
            </a:extLst>
          </p:cNvPr>
          <p:cNvSpPr>
            <a:spLocks noGrp="1"/>
          </p:cNvSpPr>
          <p:nvPr>
            <p:ph type="body" sz="half" idx="2"/>
          </p:nvPr>
        </p:nvSpPr>
        <p:spPr/>
        <p:txBody>
          <a:bodyPr/>
          <a:lstStyle/>
          <a:p>
            <a:r>
              <a:rPr lang="en-US" dirty="0"/>
              <a:t>There is a considerable reduction in the number of records, from 2448 to 792, which causes the metrics to drop. The policy index is available only for 56 countries (the USA is not included in this subset).</a:t>
            </a:r>
          </a:p>
          <a:p>
            <a:r>
              <a:rPr lang="en-US" dirty="0"/>
              <a:t>The policy index with interaction terms provides predictive power; however, it might not show up in the top combinations in the scenario discovery</a:t>
            </a:r>
          </a:p>
        </p:txBody>
      </p:sp>
      <p:pic>
        <p:nvPicPr>
          <p:cNvPr id="8" name="Picture 7">
            <a:extLst>
              <a:ext uri="{FF2B5EF4-FFF2-40B4-BE49-F238E27FC236}">
                <a16:creationId xmlns:a16="http://schemas.microsoft.com/office/drawing/2014/main" id="{6F4A73A9-4AB1-662C-113E-1F8D8B769507}"/>
              </a:ext>
            </a:extLst>
          </p:cNvPr>
          <p:cNvPicPr>
            <a:picLocks noChangeAspect="1"/>
          </p:cNvPicPr>
          <p:nvPr/>
        </p:nvPicPr>
        <p:blipFill>
          <a:blip r:embed="rId2"/>
          <a:stretch>
            <a:fillRect/>
          </a:stretch>
        </p:blipFill>
        <p:spPr>
          <a:xfrm>
            <a:off x="6379324" y="2967950"/>
            <a:ext cx="3762205" cy="3762205"/>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92CB7989-660C-827D-7B83-6833CCE27571}"/>
                  </a:ext>
                </a:extLst>
              </p14:cNvPr>
              <p14:cNvContentPartPr/>
              <p14:nvPr/>
            </p14:nvContentPartPr>
            <p14:xfrm>
              <a:off x="7204708" y="5805594"/>
              <a:ext cx="900000" cy="31680"/>
            </p14:xfrm>
          </p:contentPart>
        </mc:Choice>
        <mc:Fallback xmlns="">
          <p:pic>
            <p:nvPicPr>
              <p:cNvPr id="9" name="Ink 8">
                <a:extLst>
                  <a:ext uri="{FF2B5EF4-FFF2-40B4-BE49-F238E27FC236}">
                    <a16:creationId xmlns:a16="http://schemas.microsoft.com/office/drawing/2014/main" id="{92CB7989-660C-827D-7B83-6833CCE27571}"/>
                  </a:ext>
                </a:extLst>
              </p:cNvPr>
              <p:cNvPicPr/>
              <p:nvPr/>
            </p:nvPicPr>
            <p:blipFill>
              <a:blip r:embed="rId4"/>
              <a:stretch>
                <a:fillRect/>
              </a:stretch>
            </p:blipFill>
            <p:spPr>
              <a:xfrm>
                <a:off x="7168708" y="5733954"/>
                <a:ext cx="971640" cy="175320"/>
              </a:xfrm>
              <a:prstGeom prst="rect">
                <a:avLst/>
              </a:prstGeom>
            </p:spPr>
          </p:pic>
        </mc:Fallback>
      </mc:AlternateContent>
    </p:spTree>
    <p:extLst>
      <p:ext uri="{BB962C8B-B14F-4D97-AF65-F5344CB8AC3E}">
        <p14:creationId xmlns:p14="http://schemas.microsoft.com/office/powerpoint/2010/main" val="17925889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531FC-EB03-0C7A-0A25-2E159BFC5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6406B-89B0-AACB-1448-23840FA1B982}"/>
              </a:ext>
            </a:extLst>
          </p:cNvPr>
          <p:cNvSpPr>
            <a:spLocks noGrp="1"/>
          </p:cNvSpPr>
          <p:nvPr>
            <p:ph type="title"/>
          </p:nvPr>
        </p:nvSpPr>
        <p:spPr/>
        <p:txBody>
          <a:bodyPr/>
          <a:lstStyle/>
          <a:p>
            <a:r>
              <a:rPr lang="en-US" dirty="0"/>
              <a:t>Robustness </a:t>
            </a:r>
            <a:r>
              <a:rPr lang="en-US" dirty="0" err="1"/>
              <a:t>Check:Quick</a:t>
            </a:r>
            <a:r>
              <a:rPr lang="en-US" dirty="0"/>
              <a:t> Mediation Test</a:t>
            </a:r>
          </a:p>
        </p:txBody>
      </p:sp>
      <p:sp>
        <p:nvSpPr>
          <p:cNvPr id="3" name="Text Placeholder 2">
            <a:extLst>
              <a:ext uri="{FF2B5EF4-FFF2-40B4-BE49-F238E27FC236}">
                <a16:creationId xmlns:a16="http://schemas.microsoft.com/office/drawing/2014/main" id="{42836041-ACF7-0971-C8E5-3E42716AA1C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945218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D9807-1097-C2B0-F7D2-17F87992D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C49F78-3F2B-1799-FA18-65B3AF523FD4}"/>
              </a:ext>
            </a:extLst>
          </p:cNvPr>
          <p:cNvSpPr>
            <a:spLocks noGrp="1"/>
          </p:cNvSpPr>
          <p:nvPr>
            <p:ph type="title"/>
          </p:nvPr>
        </p:nvSpPr>
        <p:spPr/>
        <p:txBody>
          <a:bodyPr/>
          <a:lstStyle/>
          <a:p>
            <a:r>
              <a:rPr lang="en-US" dirty="0"/>
              <a:t>What did we do?</a:t>
            </a:r>
          </a:p>
        </p:txBody>
      </p:sp>
      <p:sp>
        <p:nvSpPr>
          <p:cNvPr id="3" name="Content Placeholder 2">
            <a:extLst>
              <a:ext uri="{FF2B5EF4-FFF2-40B4-BE49-F238E27FC236}">
                <a16:creationId xmlns:a16="http://schemas.microsoft.com/office/drawing/2014/main" id="{714F350B-F10F-FE2C-4AC5-31F305921120}"/>
              </a:ext>
            </a:extLst>
          </p:cNvPr>
          <p:cNvSpPr>
            <a:spLocks noGrp="1"/>
          </p:cNvSpPr>
          <p:nvPr>
            <p:ph idx="1"/>
          </p:nvPr>
        </p:nvSpPr>
        <p:spPr/>
        <p:txBody>
          <a:bodyPr/>
          <a:lstStyle/>
          <a:p>
            <a:r>
              <a:rPr lang="en-US" dirty="0"/>
              <a:t>Predict the Primary Energy (TWh) in 10 years, using the incentives variables:</a:t>
            </a:r>
          </a:p>
          <a:p>
            <a:pPr lvl="1"/>
            <a:r>
              <a:rPr lang="en-US" dirty="0"/>
              <a:t>Has a carbon tax</a:t>
            </a:r>
          </a:p>
          <a:p>
            <a:pPr lvl="1"/>
            <a:r>
              <a:rPr lang="en-US" dirty="0"/>
              <a:t>Has ETS</a:t>
            </a:r>
          </a:p>
          <a:p>
            <a:pPr lvl="1"/>
            <a:r>
              <a:rPr lang="en-US" dirty="0"/>
              <a:t>Has a framework law</a:t>
            </a:r>
          </a:p>
          <a:p>
            <a:pPr lvl="1"/>
            <a:r>
              <a:rPr lang="en-US" dirty="0"/>
              <a:t>Has a renewable target</a:t>
            </a:r>
          </a:p>
          <a:p>
            <a:pPr lvl="1"/>
            <a:r>
              <a:rPr lang="en-US" dirty="0"/>
              <a:t>Has an efficiency standard</a:t>
            </a:r>
          </a:p>
          <a:p>
            <a:pPr lvl="1"/>
            <a:r>
              <a:rPr lang="en-US" dirty="0"/>
              <a:t>Number of climate laws</a:t>
            </a:r>
          </a:p>
          <a:p>
            <a:pPr lvl="1"/>
            <a:r>
              <a:rPr lang="en-US" dirty="0"/>
              <a:t>Cumulative climate laws</a:t>
            </a:r>
          </a:p>
          <a:p>
            <a:pPr lvl="1"/>
            <a:r>
              <a:rPr lang="en-US" dirty="0"/>
              <a:t>Carbon pricing coverage</a:t>
            </a:r>
          </a:p>
          <a:p>
            <a:endParaRPr lang="en-US" dirty="0"/>
          </a:p>
        </p:txBody>
      </p:sp>
    </p:spTree>
    <p:extLst>
      <p:ext uri="{BB962C8B-B14F-4D97-AF65-F5344CB8AC3E}">
        <p14:creationId xmlns:p14="http://schemas.microsoft.com/office/powerpoint/2010/main" val="309945728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1B8C5-7651-E97E-643A-FDFF65B98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AE792F-0A24-890E-7483-45AAE177897C}"/>
              </a:ext>
            </a:extLst>
          </p:cNvPr>
          <p:cNvSpPr>
            <a:spLocks noGrp="1"/>
          </p:cNvSpPr>
          <p:nvPr>
            <p:ph type="title"/>
          </p:nvPr>
        </p:nvSpPr>
        <p:spPr/>
        <p:txBody>
          <a:bodyPr/>
          <a:lstStyle/>
          <a:p>
            <a:r>
              <a:rPr lang="en-US" dirty="0"/>
              <a:t>Ablation Study Results</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2E9118C5-9360-68B0-8347-E2F6C6D9EF76}"/>
                  </a:ext>
                </a:extLst>
              </p14:cNvPr>
              <p14:cNvContentPartPr/>
              <p14:nvPr/>
            </p14:nvContentPartPr>
            <p14:xfrm>
              <a:off x="4504348" y="4799754"/>
              <a:ext cx="879480" cy="18000"/>
            </p14:xfrm>
          </p:contentPart>
        </mc:Choice>
        <mc:Fallback xmlns="">
          <p:pic>
            <p:nvPicPr>
              <p:cNvPr id="6" name="Ink 5">
                <a:extLst>
                  <a:ext uri="{FF2B5EF4-FFF2-40B4-BE49-F238E27FC236}">
                    <a16:creationId xmlns:a16="http://schemas.microsoft.com/office/drawing/2014/main" id="{2E9118C5-9360-68B0-8347-E2F6C6D9EF76}"/>
                  </a:ext>
                </a:extLst>
              </p:cNvPr>
              <p:cNvPicPr/>
              <p:nvPr/>
            </p:nvPicPr>
            <p:blipFill>
              <a:blip r:embed="rId3"/>
              <a:stretch>
                <a:fillRect/>
              </a:stretch>
            </p:blipFill>
            <p:spPr>
              <a:xfrm>
                <a:off x="4468348" y="4728114"/>
                <a:ext cx="95112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DAAC5885-58CE-5F3D-ECEB-AF19B440651C}"/>
                  </a:ext>
                </a:extLst>
              </p14:cNvPr>
              <p14:cNvContentPartPr/>
              <p14:nvPr/>
            </p14:nvContentPartPr>
            <p14:xfrm>
              <a:off x="4235788" y="4207194"/>
              <a:ext cx="1150200" cy="55800"/>
            </p14:xfrm>
          </p:contentPart>
        </mc:Choice>
        <mc:Fallback xmlns="">
          <p:pic>
            <p:nvPicPr>
              <p:cNvPr id="8" name="Ink 7">
                <a:extLst>
                  <a:ext uri="{FF2B5EF4-FFF2-40B4-BE49-F238E27FC236}">
                    <a16:creationId xmlns:a16="http://schemas.microsoft.com/office/drawing/2014/main" id="{DAAC5885-58CE-5F3D-ECEB-AF19B440651C}"/>
                  </a:ext>
                </a:extLst>
              </p:cNvPr>
              <p:cNvPicPr/>
              <p:nvPr/>
            </p:nvPicPr>
            <p:blipFill>
              <a:blip r:embed="rId5"/>
              <a:stretch>
                <a:fillRect/>
              </a:stretch>
            </p:blipFill>
            <p:spPr>
              <a:xfrm>
                <a:off x="4199788" y="4135554"/>
                <a:ext cx="1221840" cy="199440"/>
              </a:xfrm>
              <a:prstGeom prst="rect">
                <a:avLst/>
              </a:prstGeom>
            </p:spPr>
          </p:pic>
        </mc:Fallback>
      </mc:AlternateContent>
      <p:pic>
        <p:nvPicPr>
          <p:cNvPr id="7" name="Content Placeholder 6">
            <a:extLst>
              <a:ext uri="{FF2B5EF4-FFF2-40B4-BE49-F238E27FC236}">
                <a16:creationId xmlns:a16="http://schemas.microsoft.com/office/drawing/2014/main" id="{FFD2C5C5-AB60-1AD2-BACD-56C493ED1117}"/>
              </a:ext>
            </a:extLst>
          </p:cNvPr>
          <p:cNvPicPr>
            <a:picLocks noGrp="1" noChangeAspect="1"/>
          </p:cNvPicPr>
          <p:nvPr>
            <p:ph idx="1"/>
          </p:nvPr>
        </p:nvPicPr>
        <p:blipFill>
          <a:blip r:embed="rId6"/>
          <a:stretch>
            <a:fillRect/>
          </a:stretch>
        </p:blipFill>
        <p:spPr>
          <a:xfrm>
            <a:off x="838200" y="1930039"/>
            <a:ext cx="10515600" cy="4142509"/>
          </a:xfrm>
          <a:prstGeom prst="rect">
            <a:avLst/>
          </a:prstGeom>
        </p:spPr>
      </p:pic>
    </p:spTree>
    <p:extLst>
      <p:ext uri="{BB962C8B-B14F-4D97-AF65-F5344CB8AC3E}">
        <p14:creationId xmlns:p14="http://schemas.microsoft.com/office/powerpoint/2010/main" val="27385744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B0B32-B6C3-638A-F89D-CABEDD1A3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EF94E-6064-E63F-8A60-4B5CFA3DA76A}"/>
              </a:ext>
            </a:extLst>
          </p:cNvPr>
          <p:cNvSpPr>
            <a:spLocks noGrp="1"/>
          </p:cNvSpPr>
          <p:nvPr>
            <p:ph type="title"/>
          </p:nvPr>
        </p:nvSpPr>
        <p:spPr/>
        <p:txBody>
          <a:bodyPr/>
          <a:lstStyle/>
          <a:p>
            <a:r>
              <a:rPr lang="en-US" dirty="0"/>
              <a:t>Model Results</a:t>
            </a:r>
          </a:p>
        </p:txBody>
      </p:sp>
      <p:graphicFrame>
        <p:nvGraphicFramePr>
          <p:cNvPr id="4" name="Content Placeholder 3">
            <a:extLst>
              <a:ext uri="{FF2B5EF4-FFF2-40B4-BE49-F238E27FC236}">
                <a16:creationId xmlns:a16="http://schemas.microsoft.com/office/drawing/2014/main" id="{66B6D74B-FF57-AF76-767F-2029D0ACC2AF}"/>
              </a:ext>
            </a:extLst>
          </p:cNvPr>
          <p:cNvGraphicFramePr>
            <a:graphicFrameLocks noGrp="1"/>
          </p:cNvGraphicFramePr>
          <p:nvPr>
            <p:ph idx="1"/>
            <p:extLst>
              <p:ext uri="{D42A27DB-BD31-4B8C-83A1-F6EECF244321}">
                <p14:modId xmlns:p14="http://schemas.microsoft.com/office/powerpoint/2010/main" val="3780554339"/>
              </p:ext>
            </p:extLst>
          </p:nvPr>
        </p:nvGraphicFramePr>
        <p:xfrm>
          <a:off x="5275265" y="743980"/>
          <a:ext cx="6172200" cy="74168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1695191581"/>
                    </a:ext>
                  </a:extLst>
                </a:gridCol>
                <a:gridCol w="2057400">
                  <a:extLst>
                    <a:ext uri="{9D8B030D-6E8A-4147-A177-3AD203B41FA5}">
                      <a16:colId xmlns:a16="http://schemas.microsoft.com/office/drawing/2014/main" val="3548406906"/>
                    </a:ext>
                  </a:extLst>
                </a:gridCol>
                <a:gridCol w="2057400">
                  <a:extLst>
                    <a:ext uri="{9D8B030D-6E8A-4147-A177-3AD203B41FA5}">
                      <a16:colId xmlns:a16="http://schemas.microsoft.com/office/drawing/2014/main" val="924271940"/>
                    </a:ext>
                  </a:extLst>
                </a:gridCol>
              </a:tblGrid>
              <a:tr h="370840">
                <a:tc>
                  <a:txBody>
                    <a:bodyPr/>
                    <a:lstStyle/>
                    <a:p>
                      <a:r>
                        <a:rPr lang="en-US" dirty="0"/>
                        <a:t>Model Version</a:t>
                      </a:r>
                    </a:p>
                  </a:txBody>
                  <a:tcPr/>
                </a:tc>
                <a:tc>
                  <a:txBody>
                    <a:bodyPr/>
                    <a:lstStyle/>
                    <a:p>
                      <a:r>
                        <a:rPr lang="en-US" dirty="0"/>
                        <a:t>Train MAE</a:t>
                      </a:r>
                    </a:p>
                  </a:txBody>
                  <a:tcPr/>
                </a:tc>
                <a:tc>
                  <a:txBody>
                    <a:bodyPr/>
                    <a:lstStyle/>
                    <a:p>
                      <a:r>
                        <a:rPr lang="en-US" dirty="0"/>
                        <a:t>Test MAE</a:t>
                      </a:r>
                    </a:p>
                  </a:txBody>
                  <a:tcPr/>
                </a:tc>
                <a:extLst>
                  <a:ext uri="{0D108BD9-81ED-4DB2-BD59-A6C34878D82A}">
                    <a16:rowId xmlns:a16="http://schemas.microsoft.com/office/drawing/2014/main" val="971136785"/>
                  </a:ext>
                </a:extLst>
              </a:tr>
              <a:tr h="370840">
                <a:tc>
                  <a:txBody>
                    <a:bodyPr/>
                    <a:lstStyle/>
                    <a:p>
                      <a:r>
                        <a:rPr lang="en-US" dirty="0"/>
                        <a:t>ENET</a:t>
                      </a:r>
                    </a:p>
                  </a:txBody>
                  <a:tcPr/>
                </a:tc>
                <a:tc>
                  <a:txBody>
                    <a:bodyPr/>
                    <a:lstStyle/>
                    <a:p>
                      <a:r>
                        <a:rPr lang="en-MX" sz="1800" b="0" i="0" kern="1200" dirty="0">
                          <a:solidFill>
                            <a:schemeClr val="dk1"/>
                          </a:solidFill>
                          <a:effectLst/>
                          <a:latin typeface="+mn-lt"/>
                          <a:ea typeface="+mn-ea"/>
                          <a:cs typeface="+mn-cs"/>
                        </a:rPr>
                        <a:t>752.11</a:t>
                      </a:r>
                      <a:endParaRPr lang="en-US" dirty="0"/>
                    </a:p>
                  </a:txBody>
                  <a:tcPr/>
                </a:tc>
                <a:tc>
                  <a:txBody>
                    <a:bodyPr/>
                    <a:lstStyle/>
                    <a:p>
                      <a:r>
                        <a:rPr lang="en-MX" sz="1800" b="0" i="0" kern="1200" dirty="0">
                          <a:solidFill>
                            <a:schemeClr val="dk1"/>
                          </a:solidFill>
                          <a:effectLst/>
                          <a:latin typeface="+mn-lt"/>
                          <a:ea typeface="+mn-ea"/>
                          <a:cs typeface="+mn-cs"/>
                        </a:rPr>
                        <a:t>870.23</a:t>
                      </a:r>
                      <a:endParaRPr lang="en-US" dirty="0"/>
                    </a:p>
                  </a:txBody>
                  <a:tcPr/>
                </a:tc>
                <a:extLst>
                  <a:ext uri="{0D108BD9-81ED-4DB2-BD59-A6C34878D82A}">
                    <a16:rowId xmlns:a16="http://schemas.microsoft.com/office/drawing/2014/main" val="1324549545"/>
                  </a:ext>
                </a:extLst>
              </a:tr>
            </a:tbl>
          </a:graphicData>
        </a:graphic>
      </p:graphicFrame>
      <p:sp>
        <p:nvSpPr>
          <p:cNvPr id="5" name="Text Placeholder 4">
            <a:extLst>
              <a:ext uri="{FF2B5EF4-FFF2-40B4-BE49-F238E27FC236}">
                <a16:creationId xmlns:a16="http://schemas.microsoft.com/office/drawing/2014/main" id="{45854C66-D908-FC59-2417-86B09DD17319}"/>
              </a:ext>
            </a:extLst>
          </p:cNvPr>
          <p:cNvSpPr>
            <a:spLocks noGrp="1"/>
          </p:cNvSpPr>
          <p:nvPr>
            <p:ph type="body" sz="half" idx="2"/>
          </p:nvPr>
        </p:nvSpPr>
        <p:spPr/>
        <p:txBody>
          <a:bodyPr/>
          <a:lstStyle/>
          <a:p>
            <a:r>
              <a:rPr lang="en-US" dirty="0"/>
              <a:t>The incentive features aren’t very effective at predicting primary energy over the next 10 years. Even though the results are logical, the MAE is very high relative to the reductions achieved by each feature in the ablation study.</a:t>
            </a: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B6CD39EE-6EBC-BDF4-131F-A0CDE123245C}"/>
                  </a:ext>
                </a:extLst>
              </p14:cNvPr>
              <p14:cNvContentPartPr/>
              <p14:nvPr/>
            </p14:nvContentPartPr>
            <p14:xfrm>
              <a:off x="7204708" y="5805594"/>
              <a:ext cx="900000" cy="31680"/>
            </p14:xfrm>
          </p:contentPart>
        </mc:Choice>
        <mc:Fallback xmlns="">
          <p:pic>
            <p:nvPicPr>
              <p:cNvPr id="9" name="Ink 8">
                <a:extLst>
                  <a:ext uri="{FF2B5EF4-FFF2-40B4-BE49-F238E27FC236}">
                    <a16:creationId xmlns:a16="http://schemas.microsoft.com/office/drawing/2014/main" id="{B6CD39EE-6EBC-BDF4-131F-A0CDE123245C}"/>
                  </a:ext>
                </a:extLst>
              </p:cNvPr>
              <p:cNvPicPr/>
              <p:nvPr/>
            </p:nvPicPr>
            <p:blipFill>
              <a:blip r:embed="rId3"/>
              <a:stretch>
                <a:fillRect/>
              </a:stretch>
            </p:blipFill>
            <p:spPr>
              <a:xfrm>
                <a:off x="7168708" y="5733954"/>
                <a:ext cx="971640" cy="175320"/>
              </a:xfrm>
              <a:prstGeom prst="rect">
                <a:avLst/>
              </a:prstGeom>
            </p:spPr>
          </p:pic>
        </mc:Fallback>
      </mc:AlternateContent>
      <p:pic>
        <p:nvPicPr>
          <p:cNvPr id="3" name="Picture 2">
            <a:extLst>
              <a:ext uri="{FF2B5EF4-FFF2-40B4-BE49-F238E27FC236}">
                <a16:creationId xmlns:a16="http://schemas.microsoft.com/office/drawing/2014/main" id="{BA07AEED-1832-DC22-7AA6-8C678BEDB1CE}"/>
              </a:ext>
            </a:extLst>
          </p:cNvPr>
          <p:cNvPicPr>
            <a:picLocks noChangeAspect="1"/>
          </p:cNvPicPr>
          <p:nvPr/>
        </p:nvPicPr>
        <p:blipFill>
          <a:blip r:embed="rId4"/>
          <a:stretch>
            <a:fillRect/>
          </a:stretch>
        </p:blipFill>
        <p:spPr>
          <a:xfrm>
            <a:off x="6317325" y="2057400"/>
            <a:ext cx="4088080" cy="4088080"/>
          </a:xfrm>
          <a:prstGeom prst="rect">
            <a:avLst/>
          </a:prstGeom>
        </p:spPr>
      </p:pic>
    </p:spTree>
    <p:extLst>
      <p:ext uri="{BB962C8B-B14F-4D97-AF65-F5344CB8AC3E}">
        <p14:creationId xmlns:p14="http://schemas.microsoft.com/office/powerpoint/2010/main" val="326631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5260</TotalTime>
  <Words>1570</Words>
  <Application>Microsoft Macintosh PowerPoint</Application>
  <PresentationFormat>Widescreen</PresentationFormat>
  <Paragraphs>235</Paragraphs>
  <Slides>85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85</vt:i4>
      </vt:variant>
    </vt:vector>
  </HeadingPairs>
  <TitlesOfParts>
    <vt:vector size="89" baseType="lpstr">
      <vt:lpstr>Aptos</vt:lpstr>
      <vt:lpstr>Aptos Display</vt:lpstr>
      <vt:lpstr>Arial</vt:lpstr>
      <vt:lpstr>Office Theme</vt:lpstr>
      <vt:lpstr>Data and Model Updates</vt:lpstr>
      <vt:lpstr>OECD Policy Stringency Index</vt:lpstr>
      <vt:lpstr>IEA Policy Stock x Governance Estimate</vt:lpstr>
      <vt:lpstr>Most Relevant Predictors</vt:lpstr>
      <vt:lpstr>Model Evaluation</vt:lpstr>
      <vt:lpstr>Errors Distribution</vt:lpstr>
      <vt:lpstr>ARIMA Projections USA</vt:lpstr>
      <vt:lpstr>ARIMA Projections UGA</vt:lpstr>
      <vt:lpstr>ARIMA Projections FRA</vt:lpstr>
      <vt:lpstr>ARIMA Projections MEX</vt:lpstr>
      <vt:lpstr>Emission Predictions</vt:lpstr>
      <vt:lpstr>Update Feb 9th</vt:lpstr>
      <vt:lpstr>Model Evaluation</vt:lpstr>
      <vt:lpstr>Most Important Features</vt:lpstr>
      <vt:lpstr>Update Feb 16th</vt:lpstr>
      <vt:lpstr>PCA</vt:lpstr>
      <vt:lpstr>Correlation Analysis</vt:lpstr>
      <vt:lpstr>Top Loadings in Top PCs</vt:lpstr>
      <vt:lpstr>Train-test Metrics with Cleaner Feature Set</vt:lpstr>
      <vt:lpstr>Most Important Features</vt:lpstr>
      <vt:lpstr>Update Feb 23rd</vt:lpstr>
      <vt:lpstr>Reminder of the Top Loading Features per PC</vt:lpstr>
      <vt:lpstr>Ablation Experiment</vt:lpstr>
      <vt:lpstr>Ablation Experiment Results</vt:lpstr>
      <vt:lpstr>Model Training and Evaluation</vt:lpstr>
      <vt:lpstr>Top Regressors</vt:lpstr>
      <vt:lpstr>Update March 2nd</vt:lpstr>
      <vt:lpstr>Projected Predictors</vt:lpstr>
      <vt:lpstr>Projected Emissions</vt:lpstr>
      <vt:lpstr>The following are preliminary results since we’re missing data for key countries</vt:lpstr>
      <vt:lpstr>Also… Some important countries have 0 chance of meeting their targets which means that we might need to adjust the ARIMA projections</vt:lpstr>
      <vt:lpstr>Distribution of the probability of meeting the NDC target</vt:lpstr>
      <vt:lpstr>What’s the share of countries that meet certain probability?</vt:lpstr>
      <vt:lpstr>Update March 9th</vt:lpstr>
      <vt:lpstr>PowerPoint Presentation</vt:lpstr>
      <vt:lpstr>PowerPoint Presentation</vt:lpstr>
      <vt:lpstr>Let’s Check the Projections</vt:lpstr>
      <vt:lpstr>Update March 30th</vt:lpstr>
      <vt:lpstr>Compute vulnerability indicator</vt:lpstr>
      <vt:lpstr>Compute vulnerability indicator</vt:lpstr>
      <vt:lpstr>Aggregate ARIMA features</vt:lpstr>
      <vt:lpstr>Example of ARIMA aggregated features</vt:lpstr>
      <vt:lpstr>Obtaining feature importance with RF</vt:lpstr>
      <vt:lpstr>What drivers should we pick?</vt:lpstr>
      <vt:lpstr>Finally we run the multi-objective optimization</vt:lpstr>
      <vt:lpstr>Results for Mexico</vt:lpstr>
      <vt:lpstr>Results for Brasil</vt:lpstr>
      <vt:lpstr>Results for Canada</vt:lpstr>
      <vt:lpstr>The issues with this approach</vt:lpstr>
      <vt:lpstr>Possible solutions</vt:lpstr>
      <vt:lpstr>What I am currently doing</vt:lpstr>
      <vt:lpstr>How it changed for Mexico</vt:lpstr>
      <vt:lpstr>How results changed</vt:lpstr>
      <vt:lpstr>I did that for the 136 countries we have, and this are the top features</vt:lpstr>
      <vt:lpstr>Update April 6th</vt:lpstr>
      <vt:lpstr>General Updates</vt:lpstr>
      <vt:lpstr>General Updates</vt:lpstr>
      <vt:lpstr>Example: MEX</vt:lpstr>
      <vt:lpstr>Some stats about the thresholds</vt:lpstr>
      <vt:lpstr>General Updates</vt:lpstr>
      <vt:lpstr>Using pct_change only is not great</vt:lpstr>
      <vt:lpstr>Example of Japan using start, last, delta and pct_change</vt:lpstr>
      <vt:lpstr>General Updates</vt:lpstr>
      <vt:lpstr>New selection method</vt:lpstr>
      <vt:lpstr>Example: MEX</vt:lpstr>
      <vt:lpstr>Example: USA</vt:lpstr>
      <vt:lpstr>Example: JPN</vt:lpstr>
      <vt:lpstr>Stats about the new cutoff selection method</vt:lpstr>
      <vt:lpstr>General Updates</vt:lpstr>
      <vt:lpstr>New Feature Combination Table</vt:lpstr>
      <vt:lpstr>Added Income Level Classification</vt:lpstr>
      <vt:lpstr>Let’s check the tables</vt:lpstr>
      <vt:lpstr>Update April 27th</vt:lpstr>
      <vt:lpstr>Robustness Check: Add Lags</vt:lpstr>
      <vt:lpstr>What did we add?</vt:lpstr>
      <vt:lpstr>Ablation Study Results</vt:lpstr>
      <vt:lpstr>Comparison Against Baseline</vt:lpstr>
      <vt:lpstr>Robustness Check: Policy Stringency Index</vt:lpstr>
      <vt:lpstr>What did we add?</vt:lpstr>
      <vt:lpstr>Ablation Study Results</vt:lpstr>
      <vt:lpstr>Comparison Against Baseline</vt:lpstr>
      <vt:lpstr>Robustness Check:Quick Mediation Test</vt:lpstr>
      <vt:lpstr>What did we do?</vt:lpstr>
      <vt:lpstr>Ablation Study Results</vt:lpstr>
      <vt:lpstr>Model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Antonio Robledo Lara</dc:creator>
  <cp:lastModifiedBy>Juan Antonio Robledo Lara</cp:lastModifiedBy>
  <cp:revision>12</cp:revision>
  <dcterms:created xsi:type="dcterms:W3CDTF">2026-01-23T19:32:47Z</dcterms:created>
  <dcterms:modified xsi:type="dcterms:W3CDTF">2026-04-29T14:50:48Z</dcterms:modified>
</cp:coreProperties>
</file>